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8.4</c:v>
                </c:pt>
                <c:pt idx="2">
                  <c:v>15.9</c:v>
                </c:pt>
                <c:pt idx="3">
                  <c:v>19.2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PowerPoint Animation Stress-Test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700" b="0" i="0">
                <a:solidFill>
                  <a:srgbClr val="BDD7EE"/>
                </a:solidFill>
              </a:rPr>
              <a:t>Reference deck for evaluating iSpring Suite's PowerPoint → HTML5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3794760"/>
            <a:ext cx="6583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10 labeled TEST areas — entrance, exit, emphasis, motion paths,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timing/sequencing, text builds, charts &amp; diagrams, media,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complex combinations, and one heavy 29-object stress slide.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Advance with clicks — every slide states how many clicks it needs.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Final slide lists every feature for the compatibility checklist.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</a:rPr>
              <a:t>Office Open XML · 16:9 · animations authored with standard PowerPoint preset OOXML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BASIC ENTRANCE ANIMATIONS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Seven objects hidden at start — one appears per click, in reading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331720" cy="12344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Fade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81528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83080"/>
            <a:ext cx="2331720" cy="123444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Appear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081528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83080"/>
            <a:ext cx="2331720" cy="12344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Fly In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(from bottom)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81528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783080"/>
            <a:ext cx="2331720" cy="1234440"/>
          </a:xfrm>
          <a:prstGeom prst="roundRect">
            <a:avLst/>
          </a:prstGeom>
          <a:solidFill>
            <a:srgbClr val="2E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Float In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(rise + fade)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081528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2331720" cy="123444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Zoom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(scale in)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76088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3977639"/>
            <a:ext cx="2331720" cy="123444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Split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(vertical in)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276088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977639"/>
            <a:ext cx="2331720" cy="1234440"/>
          </a:xfrm>
          <a:prstGeom prst="roundRect">
            <a:avLst/>
          </a:prstGeom>
          <a:solidFill>
            <a:srgbClr val="7F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Wipe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(from bottom)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276088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Effects used: Fade · Appear · Fly In (bottom) · Float In · Zoom · Split (Vertical In) · Wipe (From Bottom)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presetID="1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 presetID="2" presetClass="entr" nodeType="clickEffect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" dur="7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4" dur="7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2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presetID="42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90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9" dur="9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6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 presetID="23" presetClass="entr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600"/>
                                  <p:tgtEl>
                                    <p:spTgt spid="14"/>
                                  </p:tgtEl>
                                </p:cBhvr>
                              </p:animEffect>
                              <p:animScale>
                                <p:cBhvr>
                                  <p:cTn id="24" dur="600" fill="hold"/>
                                  <p:tgtEl>
                                    <p:spTgt spid="14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presetID="16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Vertical)">
                                <p:cBhvr>
                                  <p:cTn id="28" dur="7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 presetID="22" presetClass="entr" nodeType="clickEffect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2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EXIT ANIMATIONS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All four shapes are visible immediately — each click removes one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2331720" cy="13716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Fade Out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exit target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1 removes this shape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286000"/>
            <a:ext cx="2331720" cy="13716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Disappear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exit target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794760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2 removes this shape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286000"/>
            <a:ext cx="2331720" cy="13716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Fly Out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(to the right)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exit target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94760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3 removes this shape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286000"/>
            <a:ext cx="2331720" cy="13716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Zoom Out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(shrink away)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exit target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794760"/>
            <a:ext cx="23317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4 removes this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Effects used: Fade (exit) · Disappear · Fly Out (right) · Zoom/Contract (exit)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10" presetClass="exit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5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 presetID="1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presetID="2" presetClass="exit" nodeType="clickEffect" presetSubtype="2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11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+0.25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2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13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presetID="23" presetClass="exit" nodeType="clickEffect" presetSubtype="16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16" dur="700" fill="hold"/>
                                  <p:tgtEl>
                                    <p:spTgt spid="12"/>
                                  </p:tgtEl>
                                </p:cBhvr>
                                <p:to x="0" y="0"/>
                              </p:animScale>
                              <p:animEffect transition="out" filter="fade">
                                <p:cBhvr>
                                  <p:cTn id="17" dur="7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70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EMPHASIS ANIMATIONS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Shapes stay visible — each click applies one emphasis effect in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00400" cy="14630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Pulse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64991"/>
            <a:ext cx="32004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1: Pulse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00400" cy="146304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Grow / Shrink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(to 150%)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364991"/>
            <a:ext cx="32004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2: Grow / Shrink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200400" cy="1463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Spin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(360° clockwise)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64991"/>
            <a:ext cx="32004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3: Spin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3200400" cy="1463040"/>
          </a:xfrm>
          <a:prstGeom prst="roundRect">
            <a:avLst/>
          </a:prstGeom>
          <a:solidFill>
            <a:srgbClr val="2E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Teeter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(rocking rotation)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68112"/>
            <a:ext cx="32004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4: Teeter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931920"/>
            <a:ext cx="3200400" cy="146304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Fill Color → Red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468112"/>
            <a:ext cx="32004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5: Fill Color → 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931920"/>
            <a:ext cx="3200400" cy="1463040"/>
          </a:xfrm>
          <a:prstGeom prst="round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Transparency → 50%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click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468112"/>
            <a:ext cx="32004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6: Transparency → 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Effects used: Pulse · Grow/Shrink 150% · Spin 360° · Teeter · Change Fill Color · Transparency 50%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35" presetClass="emph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5" dur="500" tmFilter="0, 0; .2, .5; .8, .5; 1, 0"/>
                                  <p:tgtEl>
                                    <p:spTgt spid="6"/>
                                  </p:tgtEl>
                                </p:cBhvr>
                              </p:animEffect>
                              <p:animScale>
                                <p:cBhvr>
                                  <p:cTn id="6" dur="250" fill="hold" autoRev="1"/>
                                  <p:tgtEl>
                                    <p:spTgt spid="6"/>
                                  </p:tgtEl>
                                </p:cBhvr>
                                <p:by x="105000" y="105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presetID="6" presetClass="emph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9" dur="900" fill="hold"/>
                                  <p:tgtEl>
                                    <p:spTgt spid="8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 presetID="8" presetClass="emph" nodeType="clickEffect">
                            <p:stCondLst>
                              <p:cond delay="0"/>
                            </p:stCondLst>
                            <p:childTnLst>
                              <p:animRot by="21600000">
                                <p:cBhvr>
                                  <p:cTn id="12" dur="12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presetID="32" presetClass="emph" nodeType="clickEffect">
                            <p:stCondLst>
                              <p:cond delay="0"/>
                            </p:stCondLst>
                            <p:childTnLst>
                              <p:animRot by="120000">
                                <p:cBhvr>
                                  <p:cTn id="15" dur="1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240000">
                                <p:cBhvr>
                                  <p:cTn id="16" dur="200" fill="hold">
                                    <p:stCondLst>
                                      <p:cond delay="20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240000">
                                <p:cBhvr>
                                  <p:cTn id="17" dur="200" fill="hold">
                                    <p:stCondLst>
                                      <p:cond delay="40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240000">
                                <p:cBhvr>
                                  <p:cTn id="18" dur="200" fill="hold">
                                    <p:stCondLst>
                                      <p:cond delay="60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120000">
                                <p:cBhvr>
                                  <p:cTn id="19" dur="200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 presetID="1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22" dur="700" fill="hold"/>
                                  <p:tgtEl>
                                    <p:spTgt spid="14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presetID="9" presetClass="emph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o>
                                  <p:strVal val="0.5"/>
                                </p:to>
                              </p:set>
                              <p:animEffect filter="image" prLst="opacity: 0.5">
                                <p:cBhvr rctx="IE">
                                  <p:cTn id="26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MOTION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Six click stages — straight, diagonal, curved, simultaneous and follow-the-leader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1828800" cy="9144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 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103120"/>
            <a:ext cx="1828800" cy="9144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← Left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103120"/>
            <a:ext cx="1737360" cy="9144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↑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103120"/>
            <a:ext cx="1737360" cy="9144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↓ 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1828800" cy="9144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↘ Diagonal</a:t>
            </a:r>
          </a:p>
        </p:txBody>
      </p:sp>
      <p:sp>
        <p:nvSpPr>
          <p:cNvPr id="11" name="Oval 10"/>
          <p:cNvSpPr/>
          <p:nvPr/>
        </p:nvSpPr>
        <p:spPr>
          <a:xfrm>
            <a:off x="3931920" y="4206240"/>
            <a:ext cx="1463040" cy="1463040"/>
          </a:xfrm>
          <a:prstGeom prst="ellipse">
            <a:avLst/>
          </a:prstGeom>
          <a:solidFill>
            <a:srgbClr val="2E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Custom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curve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4023360"/>
            <a:ext cx="1005840" cy="100584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Lead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0" y="5303520"/>
            <a:ext cx="1005840" cy="10058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Follow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90672"/>
            <a:ext cx="201168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1: path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90672"/>
            <a:ext cx="201168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2: path Left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783080"/>
            <a:ext cx="402336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3: Up + Down simultaneously (With Previous)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42432"/>
            <a:ext cx="201168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4: diagonal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742432"/>
            <a:ext cx="201168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5: Bézier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526280"/>
            <a:ext cx="292608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6: follower starts +250 ms
after leader (same path)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Path types: Right · Left · Up/Down simultaneous · Diagonal · Custom Bézier · Follow-the-leader (delayed twin)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18 0 E" pathEditMode="relative" ptsTypes="">
                                <p:cBhvr>
                                  <p:cTn id="5" dur="10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-0.18 0 E" pathEditMode="relative" ptsTypes="">
                                <p:cBhvr>
                                  <p:cTn id="8" dur="10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18 E" pathEditMode="relative" ptsTypes="">
                                <p:cBhvr>
                                  <p:cTn id="11" dur="10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12" fill="hold" presetID="0" presetClass="path" nodeType="withEffect">
                            <p:stCondLst>
                              <p:cond delay="0"/>
                            </p:stCondLst>
                            <p:childTnLst>
                              <p:animMotion origin="layout" path="M 0 0 L 0 0.18 E" pathEditMode="relative" ptsTypes="">
                                <p:cBhvr>
                                  <p:cTn id="13" dur="10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14 0.11 E" pathEditMode="relative" ptsTypes="">
                                <p:cBhvr>
                                  <p:cTn id="16" dur="11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7 -0.14 0.18 0.14 0.26 0 E" pathEditMode="relative" ptsTypes="">
                                <p:cBhvr>
                                  <p:cTn id="19" dur="14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2 0 E" pathEditMode="relative" ptsTypes="">
                                <p:cBhvr>
                                  <p:cTn id="22" dur="12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23" fill="hold" presetID="0" presetClass="path" nodeType="withEffect">
                            <p:stCondLst>
                              <p:cond delay="250"/>
                            </p:stCondLst>
                            <p:childTnLst>
                              <p:animMotion origin="layout" path="M 0 0 L 0.22 0 E" pathEditMode="relative" ptsTypes="">
                                <p:cBhvr>
                                  <p:cTn id="24" dur="12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TIMING &amp; 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Three click groups demonstrate On Click vs With Previous vs After Previous, delays and durations.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2468880" cy="9144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 — On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246888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1 · starts alone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2468880" cy="9144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 — With Previous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337560"/>
            <a:ext cx="2468880" cy="9144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 — After Previous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+250 ms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3337560"/>
            <a:ext cx="2194560" cy="9144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 — With Previous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delay 700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15968"/>
            <a:ext cx="859536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2 group: B at 0 ms · C after B ends (+250 ms) · D at absolute 700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29200"/>
            <a:ext cx="2468880" cy="914400"/>
          </a:xfrm>
          <a:prstGeom prst="roundRect">
            <a:avLst/>
          </a:prstGeom>
          <a:solidFill>
            <a:srgbClr val="2E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 — After Previous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0.3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5029200"/>
            <a:ext cx="2468880" cy="9144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 — After Previous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0.9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5029200"/>
            <a:ext cx="2468880" cy="914400"/>
          </a:xfrm>
          <a:prstGeom prst="roundRect">
            <a:avLst/>
          </a:prstGeom>
          <a:solidFill>
            <a:srgbClr val="7F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 — After Previous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0.6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07608"/>
            <a:ext cx="859536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3 chain: E → F → G run automatically with different durations (0.3 / 0.9 / 0.6 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Covers: Start On Click · Start With Previous · Start After Previous · delays 0–850 ms · durations 0.3–0.9 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fill="hold" presetID="10" presetClass="entr" nodeType="after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fill="hold" presetID="22" presetClass="entr" nodeType="withEffect" presetSubtype="4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fill="hold" presetID="23" presetClass="entr" nodeType="afterEffect" presetSubtype="16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900"/>
                                  <p:tgtEl>
                                    <p:spTgt spid="13"/>
                                  </p:tgtEl>
                                </p:cBhvr>
                              </p:animEffect>
                              <p:animScale>
                                <p:cBhvr>
                                  <p:cTn id="24" dur="900" fill="hold"/>
                                  <p:tgtEl>
                                    <p:spTgt spid="13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25" fill="hold" presetID="10" presetClass="entr" nodeType="after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TEXT ANIMATION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Whole-text-box animation, paragraph-range builds, and automatic bullet sequencing.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29184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</a:rPr>
              <a:t>This whole text box fades</a:t>
            </a:r>
          </a:p>
          <a:p>
            <a:pPr algn="l"/>
            <a:r>
              <a:rPr sz="1400" b="0">
                <a:solidFill>
                  <a:srgbClr val="1F3864"/>
                </a:solidFill>
              </a:rPr>
              <a:t>in as a single object.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32918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1 — animate entire text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783080"/>
            <a:ext cx="329184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472C4"/>
                </a:solidFill>
              </a:rPr>
              <a:t>Paragraph one — click 2</a:t>
            </a:r>
          </a:p>
          <a:p>
            <a:pPr algn="l"/>
            <a:r>
              <a:rPr sz="1400" b="0">
                <a:solidFill>
                  <a:srgbClr val="70AD47"/>
                </a:solidFill>
              </a:rPr>
              <a:t>Paragraph two — click 3</a:t>
            </a:r>
          </a:p>
          <a:p>
            <a:pPr algn="l"/>
            <a:r>
              <a:rPr sz="1400" b="0">
                <a:solidFill>
                  <a:srgbClr val="C00000"/>
                </a:solidFill>
              </a:rPr>
              <a:t>Paragraph three — click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224528"/>
            <a:ext cx="32918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Clicks 2–4 — animate by paragraph (pRg ranges)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783080"/>
            <a:ext cx="329184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7030A0"/>
                </a:solidFill>
              </a:rPr>
              <a:t>• Bullet one (0.4 s)</a:t>
            </a:r>
          </a:p>
          <a:p>
            <a:pPr algn="l"/>
            <a:r>
              <a:rPr sz="1400" b="0">
                <a:solidFill>
                  <a:srgbClr val="ED7D31"/>
                </a:solidFill>
              </a:rPr>
              <a:t>• Bullet two (0.7 s)</a:t>
            </a:r>
          </a:p>
          <a:p>
            <a:pPr algn="l"/>
            <a:r>
              <a:rPr sz="1400" b="0">
                <a:solidFill>
                  <a:srgbClr val="2EB8B8"/>
                </a:solidFill>
              </a:rPr>
              <a:t>• Bullet three (1.0 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224528"/>
            <a:ext cx="329184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5 — bullets build automatically,
one after another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Covers: whole-object text animation · paragraph-index targets · sequential bullet builds · mixed durations on one shape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0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10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presetID="22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" dur="900"/>
                                  <p:tgtEl>
                                    <p:spTgt spid="10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 presetID="1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fill="hold" presetID="1" presetClass="entr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 presetID="10" presetClass="entr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1000"/>
                                  <p:tgtEl>
                                    <p:spTgt spid="13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CHARTS &amp;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Animated chart object, sequential process flow, and a milestone timeline.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49377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40680"/>
            <a:ext cx="493776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1 — chart fades in as ONE animated object</a:t>
            </a:r>
          </a:p>
        </p:txBody>
      </p:sp>
      <p:sp>
        <p:nvSpPr>
          <p:cNvPr id="8" name="Chevron 7"/>
          <p:cNvSpPr/>
          <p:nvPr/>
        </p:nvSpPr>
        <p:spPr>
          <a:xfrm>
            <a:off x="5943600" y="1828800"/>
            <a:ext cx="1417320" cy="868680"/>
          </a:xfrm>
          <a:prstGeom prst="chevron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1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9" name="Chevron 8"/>
          <p:cNvSpPr/>
          <p:nvPr/>
        </p:nvSpPr>
        <p:spPr>
          <a:xfrm>
            <a:off x="7424928" y="1828800"/>
            <a:ext cx="1417320" cy="868680"/>
          </a:xfrm>
          <a:prstGeom prst="chevron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2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0" name="Chevron 9"/>
          <p:cNvSpPr/>
          <p:nvPr/>
        </p:nvSpPr>
        <p:spPr>
          <a:xfrm>
            <a:off x="8906256" y="1828800"/>
            <a:ext cx="1417320" cy="868680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3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1" name="Chevron 10"/>
          <p:cNvSpPr/>
          <p:nvPr/>
        </p:nvSpPr>
        <p:spPr>
          <a:xfrm>
            <a:off x="10387584" y="1828800"/>
            <a:ext cx="1417320" cy="868680"/>
          </a:xfrm>
          <a:prstGeom prst="chevron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4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88920"/>
            <a:ext cx="566928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2 — process flow builds step-by-step (After Previous)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983480"/>
            <a:ext cx="5669280" cy="6400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/>
        </p:txBody>
      </p:sp>
      <p:sp>
        <p:nvSpPr>
          <p:cNvPr id="14" name="Oval 13"/>
          <p:cNvSpPr/>
          <p:nvPr/>
        </p:nvSpPr>
        <p:spPr>
          <a:xfrm>
            <a:off x="6172200" y="4828032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/>
        </p:txBody>
      </p:sp>
      <p:sp>
        <p:nvSpPr>
          <p:cNvPr id="15" name="Oval 14"/>
          <p:cNvSpPr/>
          <p:nvPr/>
        </p:nvSpPr>
        <p:spPr>
          <a:xfrm>
            <a:off x="7562088" y="4828032"/>
            <a:ext cx="365760" cy="36576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/>
        </p:txBody>
      </p:sp>
      <p:sp>
        <p:nvSpPr>
          <p:cNvPr id="16" name="Oval 15"/>
          <p:cNvSpPr/>
          <p:nvPr/>
        </p:nvSpPr>
        <p:spPr>
          <a:xfrm>
            <a:off x="8951976" y="4828032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/>
        </p:txBody>
      </p:sp>
      <p:sp>
        <p:nvSpPr>
          <p:cNvPr id="17" name="Oval 16"/>
          <p:cNvSpPr/>
          <p:nvPr/>
        </p:nvSpPr>
        <p:spPr>
          <a:xfrm>
            <a:off x="10341864" y="4828032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0" y="5349240"/>
            <a:ext cx="566928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3 — timeline milestones appear one after another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Chart targeted via spTgt + &lt;p:bldGraphic&gt;&lt;p:bldAsOne/&gt; · chevron wipe-left sequence · milestone zoom chain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presetID="22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" dur="3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fill="hold" presetID="22" presetClass="entr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" dur="3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fill="hold" presetID="22" presetClass="entr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" dur="3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fill="hold" presetID="22" presetClass="entr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" dur="3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 presetID="22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fill="hold" presetID="23" presetClass="entr" nodeType="afterEffect" presetSubtype="16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300"/>
                                  <p:tgtEl>
                                    <p:spTgt spid="14"/>
                                  </p:tgtEl>
                                </p:cBhvr>
                              </p:animEffect>
                              <p:animScale>
                                <p:cBhvr>
                                  <p:cTn id="27" dur="300" fill="hold"/>
                                  <p:tgtEl>
                                    <p:spTgt spid="14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28" fill="hold" presetID="23" presetClass="entr" nodeType="afterEffect" presetSubtype="16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5"/>
                                  </p:tgtEl>
                                </p:cBhvr>
                              </p:animEffect>
                              <p:animScale>
                                <p:cBhvr>
                                  <p:cTn id="31" dur="300" fill="hold"/>
                                  <p:tgtEl>
                                    <p:spTgt spid="1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32" fill="hold" presetID="23" presetClass="entr" nodeType="afterEffect" presetSubtype="16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300"/>
                                  <p:tgtEl>
                                    <p:spTgt spid="16"/>
                                  </p:tgtEl>
                                </p:cBhvr>
                              </p:animEffect>
                              <p:animScale>
                                <p:cBhvr>
                                  <p:cTn id="35" dur="300" fill="hold"/>
                                  <p:tgtEl>
                                    <p:spTgt spid="16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36" fill="hold" presetID="23" presetClass="entr" nodeType="afterEffect" presetSubtype="16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300"/>
                                  <p:tgtEl>
                                    <p:spTgt spid="17"/>
                                  </p:tgtEl>
                                </p:cBhvr>
                              </p:animEffect>
                              <p:animScale>
                                <p:cBhvr>
                                  <p:cTn id="39" dur="300" fill="hold"/>
                                  <p:tgtEl>
                                    <p:spTgt spid="17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IMAGES &amp;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Image entrance/movement/exit, image + text combo, and an embedded MP4 video.</a:t>
            </a:r>
          </a:p>
        </p:txBody>
      </p:sp>
      <p:pic>
        <p:nvPicPr>
          <p:cNvPr id="6" name="Picture 5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2743200" cy="2057400"/>
          </a:xfrm>
          <a:prstGeom prst="rect">
            <a:avLst/>
          </a:prstGeom>
        </p:spPr>
      </p:pic>
      <p:pic>
        <p:nvPicPr>
          <p:cNvPr id="7" name="Picture 6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72000"/>
            <a:ext cx="1737360" cy="1307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0" y="4892040"/>
            <a:ext cx="283464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</a:rPr>
              <a:t>Caption enters together</a:t>
            </a:r>
          </a:p>
          <a:p>
            <a:pPr algn="l"/>
            <a:r>
              <a:rPr sz="1200" b="1" i="0">
                <a:solidFill>
                  <a:srgbClr val="595959"/>
                </a:solidFill>
              </a:rPr>
              <a:t>with the image (Click 4)</a:t>
            </a:r>
          </a:p>
        </p:txBody>
      </p:sp>
      <p:pic>
        <p:nvPicPr>
          <p:cNvPr id="9" name="samp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6766560" y="1737360"/>
            <a:ext cx="4754880" cy="26791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931920"/>
            <a:ext cx="274320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Clicks 1–3:
Zoom in → move right → fade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53712"/>
            <a:ext cx="475488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Embedded MP4 (static media test) — Click 5 fades the poster frame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Media coverage: image zoom/path/fade-exit · simultaneous image+text · embedded H.264 MP4 · push slide transition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3" presetClass="entr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6"/>
                                  </p:tgtEl>
                                </p:cBhvr>
                              </p:animEffect>
                              <p:animScale>
                                <p:cBhvr>
                                  <p:cTn id="8" dur="600" fill="hold"/>
                                  <p:tgtEl>
                                    <p:spTgt spid="6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12 0 E" pathEditMode="relative" ptsTypes="">
                                <p:cBhvr>
                                  <p:cTn id="11" dur="9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presetID="10" presetClass="exit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fill="hold" presetID="10" presetClass="entr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8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COMPLEX ANIMATION COMBINATIONS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Multi-effect lifecycles, text + motion simultaneity, layered overlaps, transition + foreground mix.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914400" y="1828800"/>
            <a:ext cx="1463040" cy="146304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3017520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</a:rPr>
              <a:t>Click 1 Zoom in → Click 2 Move ↘
Click 3 Pulse → Click 4 Fade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472C4"/>
                </a:solidFill>
              </a:rPr>
              <a:t>Line one appears…</a:t>
            </a:r>
          </a:p>
          <a:p>
            <a:pPr algn="l"/>
            <a:r>
              <a:rPr sz="1400" b="0">
                <a:solidFill>
                  <a:srgbClr val="70AD47"/>
                </a:solidFill>
              </a:rPr>
              <a:t>line two follows…</a:t>
            </a:r>
          </a:p>
          <a:p>
            <a:pPr algn="l"/>
            <a:r>
              <a:rPr sz="1400" b="0">
                <a:solidFill>
                  <a:srgbClr val="C00000"/>
                </a:solidFill>
              </a:rPr>
              <a:t>line three completes.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3657600"/>
            <a:ext cx="777240" cy="77724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3657600"/>
            <a:ext cx="777240" cy="7772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617720"/>
            <a:ext cx="347472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5 — text builds line-by-line while circles A+B move simultaneously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920240"/>
            <a:ext cx="2468880" cy="1463040"/>
          </a:xfrm>
          <a:prstGeom prst="round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560320"/>
            <a:ext cx="2468880" cy="1463040"/>
          </a:xfrm>
          <a:prstGeom prst="round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246120"/>
            <a:ext cx="2468880" cy="1463040"/>
          </a:xfrm>
          <a:prstGeom prst="roundRect">
            <a:avLst/>
          </a:prstGeom>
          <a:solidFill>
            <a:srgbClr val="A9D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892040"/>
            <a:ext cx="31089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 i="1">
                <a:solidFill>
                  <a:srgbClr val="A6A6A6"/>
                </a:solidFill>
              </a:rPr>
              <a:t>Click 6 — overlapping layers fade in staggered (0 / 250 / 500 ms)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5715000"/>
            <a:ext cx="3108960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 i="1">
                <a:solidFill>
                  <a:srgbClr val="FFFFFF"/>
                </a:solidFill>
              </a:rPr>
              <a:t>Slide transition: Fade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Lifecycle enter→move→emphasize→exit · paragraph build + parallel motion · layered staggered reveal · Fade transition + foreground animation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23" presetClass="entr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700"/>
                                  <p:tgtEl>
                                    <p:spTgt spid="6"/>
                                  </p:tgtEl>
                                </p:cBhvr>
                              </p:animEffect>
                              <p:animScale>
                                <p:cBhvr>
                                  <p:cTn id="7" dur="700" fill="hold"/>
                                  <p:tgtEl>
                                    <p:spTgt spid="6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1 0.08 E" pathEditMode="relative" ptsTypes="">
                                <p:cBhvr>
                                  <p:cTn id="10" dur="10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presetID="35" presetClass="emph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13" dur="500" tmFilter="0, 0; .2, .5; .8, .5; 1, 0"/>
                                  <p:tgtEl>
                                    <p:spTgt spid="6"/>
                                  </p:tgtEl>
                                </p:cBhvr>
                              </p:animEffect>
                              <p:animScale>
                                <p:cBhvr>
                                  <p:cTn id="14" dur="250" fill="hold" autoRev="1"/>
                                  <p:tgtEl>
                                    <p:spTgt spid="6"/>
                                  </p:tgtEl>
                                </p:cBhvr>
                                <p:by x="105000" y="105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presetID="10" presetClass="exit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8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fill="hold" presetID="10" presetClass="entr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/>
                                  <p:tgtEl>
                                    <p:spTgt spid="8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fill="hold" presetID="10" presetClass="entr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8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fill="hold" presetID="0" presetClass="path" nodeType="withEffect">
                            <p:stCondLst>
                              <p:cond delay="0"/>
                            </p:stCondLst>
                            <p:childTnLst>
                              <p:animMotion origin="layout" path="M 0 0 L 0.09 -0.09 E" pathEditMode="relative" ptsTypes="">
                                <p:cBhvr>
                                  <p:cTn id="29" dur="13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30" fill="hold" presetID="0" presetClass="path" nodeType="withEffect">
                            <p:stCondLst>
                              <p:cond delay="200"/>
                            </p:stCondLst>
                            <p:childTnLst>
                              <p:animMotion origin="layout" path="M 0 0 L 0.09 0.09 E" pathEditMode="relative" ptsTypes="">
                                <p:cBhvr>
                                  <p:cTn id="31" dur="13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fill="hold" presetID="10" presetClass="entr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fill="hold" presetID="10" presetClass="entr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HEAVY ANIMATION 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0" i="1">
                <a:solidFill>
                  <a:srgbClr val="A6A6A6"/>
                </a:solidFill>
              </a:rPr>
              <a:t>29 animated objects · ~60 timed effects · 5 click stages · mixed types, overlaps, paths and text builds.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783080" cy="9601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H01</a:t>
            </a:r>
          </a:p>
        </p:txBody>
      </p:sp>
      <p:sp>
        <p:nvSpPr>
          <p:cNvPr id="7" name="Oval 6"/>
          <p:cNvSpPr/>
          <p:nvPr/>
        </p:nvSpPr>
        <p:spPr>
          <a:xfrm>
            <a:off x="2322576" y="1600200"/>
            <a:ext cx="1783080" cy="9601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H02</a:t>
            </a:r>
          </a:p>
        </p:txBody>
      </p:sp>
      <p:sp>
        <p:nvSpPr>
          <p:cNvPr id="8" name="Diamond 7"/>
          <p:cNvSpPr/>
          <p:nvPr/>
        </p:nvSpPr>
        <p:spPr>
          <a:xfrm>
            <a:off x="4233672" y="1600200"/>
            <a:ext cx="1783080" cy="960120"/>
          </a:xfrm>
          <a:prstGeom prst="diamond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H03</a:t>
            </a:r>
          </a:p>
        </p:txBody>
      </p:sp>
      <p:sp>
        <p:nvSpPr>
          <p:cNvPr id="9" name="Hexagon 8"/>
          <p:cNvSpPr/>
          <p:nvPr/>
        </p:nvSpPr>
        <p:spPr>
          <a:xfrm>
            <a:off x="6144768" y="1600200"/>
            <a:ext cx="1783080" cy="960120"/>
          </a:xfrm>
          <a:prstGeom prst="hexagon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55863" y="1600200"/>
            <a:ext cx="1783080" cy="960120"/>
          </a:xfrm>
          <a:prstGeom prst="rect">
            <a:avLst/>
          </a:prstGeom>
          <a:solidFill>
            <a:srgbClr val="2E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H05</a:t>
            </a:r>
          </a:p>
        </p:txBody>
      </p:sp>
      <p:sp>
        <p:nvSpPr>
          <p:cNvPr id="11" name="Oval 10"/>
          <p:cNvSpPr/>
          <p:nvPr/>
        </p:nvSpPr>
        <p:spPr>
          <a:xfrm>
            <a:off x="9966959" y="1600200"/>
            <a:ext cx="1783080" cy="9601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H06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715768"/>
            <a:ext cx="1783080" cy="9601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H07</a:t>
            </a:r>
          </a:p>
        </p:txBody>
      </p:sp>
      <p:sp>
        <p:nvSpPr>
          <p:cNvPr id="13" name="Diamond 12"/>
          <p:cNvSpPr/>
          <p:nvPr/>
        </p:nvSpPr>
        <p:spPr>
          <a:xfrm>
            <a:off x="2322576" y="2715768"/>
            <a:ext cx="1783080" cy="960120"/>
          </a:xfrm>
          <a:prstGeom prst="diamond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H08</a:t>
            </a:r>
          </a:p>
        </p:txBody>
      </p:sp>
      <p:sp>
        <p:nvSpPr>
          <p:cNvPr id="14" name="Hexagon 13"/>
          <p:cNvSpPr/>
          <p:nvPr/>
        </p:nvSpPr>
        <p:spPr>
          <a:xfrm>
            <a:off x="4233672" y="2715768"/>
            <a:ext cx="1783080" cy="960120"/>
          </a:xfrm>
          <a:prstGeom prst="hexag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2715768"/>
            <a:ext cx="1783080" cy="96012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H10</a:t>
            </a:r>
          </a:p>
        </p:txBody>
      </p:sp>
      <p:sp>
        <p:nvSpPr>
          <p:cNvPr id="16" name="Oval 15"/>
          <p:cNvSpPr/>
          <p:nvPr/>
        </p:nvSpPr>
        <p:spPr>
          <a:xfrm>
            <a:off x="8055863" y="2715768"/>
            <a:ext cx="1783080" cy="960120"/>
          </a:xfrm>
          <a:prstGeom prst="ellipse">
            <a:avLst/>
          </a:prstGeom>
          <a:solidFill>
            <a:srgbClr val="2E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H11</a:t>
            </a:r>
          </a:p>
        </p:txBody>
      </p:sp>
      <p:sp>
        <p:nvSpPr>
          <p:cNvPr id="17" name="Diamond 16"/>
          <p:cNvSpPr/>
          <p:nvPr/>
        </p:nvSpPr>
        <p:spPr>
          <a:xfrm>
            <a:off x="9966959" y="2715768"/>
            <a:ext cx="1783080" cy="96012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H12</a:t>
            </a:r>
          </a:p>
        </p:txBody>
      </p:sp>
      <p:sp>
        <p:nvSpPr>
          <p:cNvPr id="18" name="Diamond 17"/>
          <p:cNvSpPr/>
          <p:nvPr/>
        </p:nvSpPr>
        <p:spPr>
          <a:xfrm>
            <a:off x="411480" y="3831335"/>
            <a:ext cx="1783080" cy="960120"/>
          </a:xfrm>
          <a:prstGeom prst="diamond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H13</a:t>
            </a:r>
          </a:p>
        </p:txBody>
      </p:sp>
      <p:sp>
        <p:nvSpPr>
          <p:cNvPr id="19" name="Hexagon 18"/>
          <p:cNvSpPr/>
          <p:nvPr/>
        </p:nvSpPr>
        <p:spPr>
          <a:xfrm>
            <a:off x="2322576" y="3831335"/>
            <a:ext cx="1783080" cy="960120"/>
          </a:xfrm>
          <a:prstGeom prst="hexagon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3672" y="3831335"/>
            <a:ext cx="1783080" cy="9601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H15</a:t>
            </a:r>
          </a:p>
        </p:txBody>
      </p:sp>
      <p:sp>
        <p:nvSpPr>
          <p:cNvPr id="21" name="Oval 20"/>
          <p:cNvSpPr/>
          <p:nvPr/>
        </p:nvSpPr>
        <p:spPr>
          <a:xfrm>
            <a:off x="6144768" y="3831335"/>
            <a:ext cx="1783080" cy="96012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H16</a:t>
            </a:r>
          </a:p>
        </p:txBody>
      </p:sp>
      <p:sp>
        <p:nvSpPr>
          <p:cNvPr id="22" name="Diamond 21"/>
          <p:cNvSpPr/>
          <p:nvPr/>
        </p:nvSpPr>
        <p:spPr>
          <a:xfrm>
            <a:off x="8055863" y="3831335"/>
            <a:ext cx="1783080" cy="960120"/>
          </a:xfrm>
          <a:prstGeom prst="diamond">
            <a:avLst/>
          </a:prstGeom>
          <a:solidFill>
            <a:srgbClr val="2E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H17</a:t>
            </a:r>
          </a:p>
        </p:txBody>
      </p:sp>
      <p:sp>
        <p:nvSpPr>
          <p:cNvPr id="23" name="Hexagon 22"/>
          <p:cNvSpPr/>
          <p:nvPr/>
        </p:nvSpPr>
        <p:spPr>
          <a:xfrm>
            <a:off x="9966959" y="3831335"/>
            <a:ext cx="1783080" cy="960120"/>
          </a:xfrm>
          <a:prstGeom prst="hexag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H18</a:t>
            </a:r>
          </a:p>
        </p:txBody>
      </p:sp>
      <p:sp>
        <p:nvSpPr>
          <p:cNvPr id="24" name="Hexagon 23"/>
          <p:cNvSpPr/>
          <p:nvPr/>
        </p:nvSpPr>
        <p:spPr>
          <a:xfrm>
            <a:off x="411480" y="4946904"/>
            <a:ext cx="1783080" cy="960120"/>
          </a:xfrm>
          <a:prstGeom prst="hexagon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22576" y="4946904"/>
            <a:ext cx="1783080" cy="9601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H20</a:t>
            </a:r>
          </a:p>
        </p:txBody>
      </p:sp>
      <p:sp>
        <p:nvSpPr>
          <p:cNvPr id="26" name="Oval 25"/>
          <p:cNvSpPr/>
          <p:nvPr/>
        </p:nvSpPr>
        <p:spPr>
          <a:xfrm>
            <a:off x="4233672" y="4946904"/>
            <a:ext cx="1783080" cy="9601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H21</a:t>
            </a:r>
          </a:p>
        </p:txBody>
      </p:sp>
      <p:sp>
        <p:nvSpPr>
          <p:cNvPr id="27" name="Diamond 26"/>
          <p:cNvSpPr/>
          <p:nvPr/>
        </p:nvSpPr>
        <p:spPr>
          <a:xfrm>
            <a:off x="6144768" y="4946904"/>
            <a:ext cx="1783080" cy="960120"/>
          </a:xfrm>
          <a:prstGeom prst="diamond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H22</a:t>
            </a:r>
          </a:p>
        </p:txBody>
      </p:sp>
      <p:sp>
        <p:nvSpPr>
          <p:cNvPr id="28" name="Hexagon 27"/>
          <p:cNvSpPr/>
          <p:nvPr/>
        </p:nvSpPr>
        <p:spPr>
          <a:xfrm>
            <a:off x="8055863" y="4946904"/>
            <a:ext cx="1783080" cy="960120"/>
          </a:xfrm>
          <a:prstGeom prst="hexagon">
            <a:avLst/>
          </a:prstGeom>
          <a:solidFill>
            <a:srgbClr val="2E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59" y="4946904"/>
            <a:ext cx="1783080" cy="9601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H24</a:t>
            </a:r>
          </a:p>
        </p:txBody>
      </p:sp>
      <p:sp>
        <p:nvSpPr>
          <p:cNvPr id="30" name="Oval 29"/>
          <p:cNvSpPr/>
          <p:nvPr/>
        </p:nvSpPr>
        <p:spPr>
          <a:xfrm>
            <a:off x="5349240" y="3154680"/>
            <a:ext cx="1371600" cy="13716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31" name="Oval 30"/>
          <p:cNvSpPr/>
          <p:nvPr/>
        </p:nvSpPr>
        <p:spPr>
          <a:xfrm>
            <a:off x="6080760" y="315468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32" name="Oval 31"/>
          <p:cNvSpPr/>
          <p:nvPr/>
        </p:nvSpPr>
        <p:spPr>
          <a:xfrm>
            <a:off x="5715000" y="3840480"/>
            <a:ext cx="1371600" cy="13716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3840480"/>
            <a:ext cx="1371600" cy="137160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08192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3864"/>
                </a:solidFill>
              </a:rPr>
              <a:t>Stress text line 1</a:t>
            </a:r>
          </a:p>
          <a:p>
            <a:pPr algn="l"/>
            <a:r>
              <a:rPr sz="900" b="0">
                <a:solidFill>
                  <a:srgbClr val="1F3864"/>
                </a:solidFill>
              </a:rPr>
              <a:t>Stress text line 2</a:t>
            </a:r>
          </a:p>
          <a:p>
            <a:pPr algn="l"/>
            <a:r>
              <a:rPr sz="900" b="0">
                <a:solidFill>
                  <a:srgbClr val="1F3864"/>
                </a:solidFill>
              </a:rPr>
              <a:t>Stress text line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6144768"/>
            <a:ext cx="576072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00" b="0" i="1">
                <a:solidFill>
                  <a:srgbClr val="A6A6A6"/>
                </a:solidFill>
              </a:rPr>
              <a:t>Stage 1 entrances (staggered) · Stage 2 text+pulse · Stage 3 paths+spin · Stage 4 emphasis mix · Stage 5 exits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A6A6A6"/>
                </a:solidFill>
              </a:rPr>
              <a:t>Entrances: fade/wipe/zoom/fly/float/appear · emphasis: pulse/grow/teeter/color/transparency · exits: fade/disappear/fly-out/zoom-out · 4 motion paths + 2 spins + 3 text builds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presetID="10" presetClass="entr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fill="hold" presetID="22" presetClass="entr" nodeType="withEffect" presetSubtype="4">
                            <p:stCondLst>
                              <p:cond delay="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presetID="23" presetClass="entr" nodeType="withEffect" presetSubtype="16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Scale>
                                <p:cBhvr>
                                  <p:cTn id="13" dur="450" fill="hold"/>
                                  <p:tgtEl>
                                    <p:spTgt spid="8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14" fill="hold" presetID="2" presetClass="entr" nodeType="withEffect" presetSubtype="4">
                            <p:stCondLst>
                              <p:cond delay="21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7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2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fill="hold" presetID="42" presetClass="entr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1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6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fill="hold" presetID="1" presetClass="entr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 presetID="10" presetClass="entr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fill="hold" presetID="22" presetClass="entr" nodeType="withEffect" presetSubtype="4">
                            <p:stCondLst>
                              <p:cond delay="49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fill="hold" presetID="23" presetClass="entr" nodeType="withEffect" presetSubtype="16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Scale>
                                <p:cBhvr>
                                  <p:cTn id="33" dur="450" fill="hold"/>
                                  <p:tgtEl>
                                    <p:spTgt spid="14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34" fill="hold" presetID="2" presetClass="entr" nodeType="withEffect" presetSubtype="4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6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7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2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fill="hold" presetID="42" presetClass="entr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1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6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2" fill="hold" presetID="1" presetClass="entr" nodeType="withEffect">
                            <p:stCondLst>
                              <p:cond delay="77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fill="hold" presetID="10" presetClass="entr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fill="hold" presetID="22" presetClass="entr" nodeType="withEffect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9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fill="hold" presetID="23" presetClass="entr" nodeType="withEffect" presetSubtype="16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Scale>
                                <p:cBhvr>
                                  <p:cTn id="53" dur="450" fill="hold"/>
                                  <p:tgtEl>
                                    <p:spTgt spid="20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54" fill="hold" presetID="2" presetClass="entr" nodeType="withEffect" presetSubtype="4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6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57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2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8" fill="hold" presetID="42" presetClass="entr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1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6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2" fill="hold" presetID="1" presetClass="entr" nodeType="withEffect">
                            <p:stCondLst>
                              <p:cond delay="119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4" fill="hold" presetID="10" presetClass="entr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fill="hold" presetID="22" presetClass="entr" nodeType="withEffect" presetSubtype="4">
                            <p:stCondLst>
                              <p:cond delay="133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9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fill="hold" presetID="23" presetClass="entr" nodeType="withEffect" presetSubtype="16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450"/>
                                  <p:tgtEl>
                                    <p:spTgt spid="26"/>
                                  </p:tgtEl>
                                </p:cBhvr>
                              </p:animEffect>
                              <p:animScale>
                                <p:cBhvr>
                                  <p:cTn id="73" dur="450" fill="hold"/>
                                  <p:tgtEl>
                                    <p:spTgt spid="26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74" fill="hold" presetID="2" presetClass="entr" nodeType="withEffect" presetSubtype="4">
                            <p:stCondLst>
                              <p:cond delay="147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6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7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2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8" fill="hold" presetID="42" presetClass="entr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" dur="450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1" dur="45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6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2" fill="hold" presetID="1" presetClass="entr" nodeType="withEffect">
                            <p:stCondLst>
                              <p:cond delay="161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4" fill="hold" presetID="10" presetClass="entr" nodeType="with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7" fill="hold" presetID="10" presetClass="entr" nodeType="withEffect">
                            <p:stCondLst>
                              <p:cond delay="191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0" fill="hold" presetID="10" presetClass="entr" nodeType="withEffect">
                            <p:stCondLst>
                              <p:cond delay="207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2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" fill="hold" presetID="10" presetClass="entr" nodeType="withEffect">
                            <p:stCondLst>
                              <p:cond delay="223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00"/>
                                  <p:tgtEl>
                                    <p:spTgt spid="34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fill="hold" presetID="10" presetClass="entr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300"/>
                                  <p:tgtEl>
                                    <p:spTgt spid="34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fill="hold" presetID="10" presetClass="entr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300"/>
                                  <p:tgtEl>
                                    <p:spTgt spid="34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fill="hold" presetID="35" presetClass="emph" nodeType="withEffect">
                            <p:stCondLst>
                              <p:cond delay="1000"/>
                            </p:stCondLst>
                            <p:childTnLst>
                              <p:animEffect transition="out" filter="fade">
                                <p:cBhvr>
                                  <p:cTn id="107" dur="500" tmFilter="0, 0; .2, .5; .8, .5; 1, 0"/>
                                  <p:tgtEl>
                                    <p:spTgt spid="10"/>
                                  </p:tgtEl>
                                </p:cBhvr>
                              </p:animEffect>
                              <p:animScale>
                                <p:cBhvr>
                                  <p:cTn id="108" dur="250" fill="hold" autoRev="1"/>
                                  <p:tgtEl>
                                    <p:spTgt spid="10"/>
                                  </p:tgtEl>
                                </p:cBhvr>
                                <p:by x="105000" y="105000"/>
                              </p:animScale>
                            </p:childTnLst>
                          </p:cTn>
                        </p:par>
                        <p:par>
                          <p:cTn id="109" fill="hold" presetID="35" presetClass="emph" nodeType="withEffect">
                            <p:stCondLst>
                              <p:cond delay="1300"/>
                            </p:stCondLst>
                            <p:childTnLst>
                              <p:animEffect transition="out" filter="fade">
                                <p:cBhvr>
                                  <p:cTn id="110" dur="500" tmFilter="0, 0; .2, .5; .8, .5; 1, 0"/>
                                  <p:tgtEl>
                                    <p:spTgt spid="16"/>
                                  </p:tgtEl>
                                </p:cBhvr>
                              </p:animEffect>
                              <p:animScale>
                                <p:cBhvr>
                                  <p:cTn id="111" dur="250" fill="hold" autoRev="1"/>
                                  <p:tgtEl>
                                    <p:spTgt spid="16"/>
                                  </p:tgtEl>
                                </p:cBhvr>
                                <p:by x="105000" y="105000"/>
                              </p:animScale>
                            </p:childTnLst>
                          </p:cTn>
                        </p:par>
                        <p:par>
                          <p:cTn id="112" fill="hold" presetID="35" presetClass="emph" nodeType="withEffect">
                            <p:stCondLst>
                              <p:cond delay="1600"/>
                            </p:stCondLst>
                            <p:childTnLst>
                              <p:animEffect transition="out" filter="fade">
                                <p:cBhvr>
                                  <p:cTn id="113" dur="500" tmFilter="0, 0; .2, .5; .8, .5; 1, 0"/>
                                  <p:tgtEl>
                                    <p:spTgt spid="22"/>
                                  </p:tgtEl>
                                </p:cBhvr>
                              </p:animEffect>
                              <p:animScale>
                                <p:cBhvr>
                                  <p:cTn id="114" dur="250" fill="hold" autoRev="1"/>
                                  <p:tgtEl>
                                    <p:spTgt spid="22"/>
                                  </p:tgtEl>
                                </p:cBhvr>
                                <p:by x="105000" y="105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1 0 E" pathEditMode="relative" ptsTypes="">
                                <p:cBhvr>
                                  <p:cTn id="117" dur="8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118" fill="hold" presetID="0" presetClass="path" nodeType="withEffect">
                            <p:stCondLst>
                              <p:cond delay="150"/>
                            </p:stCondLst>
                            <p:childTnLst>
                              <p:animMotion origin="layout" path="M 0 0 L 0.1 0 E" pathEditMode="relative" ptsTypes="">
                                <p:cBhvr>
                                  <p:cTn id="119" dur="8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120" fill="hold" presetID="0" presetClass="path" nodeType="withEffect">
                            <p:stCondLst>
                              <p:cond delay="300"/>
                            </p:stCondLst>
                            <p:childTnLst>
                              <p:animMotion origin="layout" path="M 0 0 L 0.1 0 E" pathEditMode="relative" ptsTypes="">
                                <p:cBhvr>
                                  <p:cTn id="121" dur="800" fill="hold"/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122" fill="hold" presetID="0" presetClass="path" nodeType="withEffect">
                            <p:stCondLst>
                              <p:cond delay="450"/>
                            </p:stCondLst>
                            <p:childTnLst>
                              <p:animMotion origin="layout" path="M 0 0 L 0.1 0 E" pathEditMode="relative" ptsTypes="">
                                <p:cBhvr>
                                  <p:cTn id="123" dur="800" fill="hold"/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124" fill="hold" presetID="8" presetClass="emph" nodeType="withEffect">
                            <p:stCondLst>
                              <p:cond delay="0"/>
                            </p:stCondLst>
                            <p:childTnLst>
                              <p:animRot by="21600000">
                                <p:cBhvr>
                                  <p:cTn id="125" dur="9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  <p:par>
                          <p:cTn id="126" fill="hold" presetID="8" presetClass="emph" nodeType="withEffect">
                            <p:stCondLst>
                              <p:cond delay="400"/>
                            </p:stCondLst>
                            <p:childTnLst>
                              <p:animRot by="21600000">
                                <p:cBhvr>
                                  <p:cTn id="127" dur="9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 presetID="6" presetClass="emph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130" dur="700" fill="hold"/>
                                  <p:tgtEl>
                                    <p:spTgt spid="14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  <p:par>
                          <p:cTn id="131" fill="hold" presetID="6" presetClass="emph" nodeType="withEffect">
                            <p:stCondLst>
                              <p:cond delay="250"/>
                            </p:stCondLst>
                            <p:childTnLst>
                              <p:animScale>
                                <p:cBhvr>
                                  <p:cTn id="132" dur="700" fill="hold"/>
                                  <p:tgtEl>
                                    <p:spTgt spid="26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  <p:par>
                          <p:cTn id="133" fill="hold" presetID="32" presetClass="emph" nodeType="withEffect">
                            <p:stCondLst>
                              <p:cond delay="0"/>
                            </p:stCondLst>
                            <p:childTnLst>
                              <p:animRot by="120000">
                                <p:cBhvr>
                                  <p:cTn id="134" dur="1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240000">
                                <p:cBhvr>
                                  <p:cTn id="135" dur="200" fill="hold">
                                    <p:stCondLst>
                                      <p:cond delay="20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240000">
                                <p:cBhvr>
                                  <p:cTn id="136" dur="200" fill="hold">
                                    <p:stCondLst>
                                      <p:cond delay="40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240000">
                                <p:cBhvr>
                                  <p:cTn id="137" dur="200" fill="hold">
                                    <p:stCondLst>
                                      <p:cond delay="60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120000">
                                <p:cBhvr>
                                  <p:cTn id="138" dur="200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  <p:par>
                          <p:cTn id="139" fill="hold" presetID="32" presetClass="emph" nodeType="withEffect">
                            <p:stCondLst>
                              <p:cond delay="250"/>
                            </p:stCondLst>
                            <p:childTnLst>
                              <p:animRot by="120000">
                                <p:cBhvr>
                                  <p:cTn id="140" dur="1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240000">
                                <p:cBhvr>
                                  <p:cTn id="141" dur="200" fill="hold">
                                    <p:stCondLst>
                                      <p:cond delay="20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240000">
                                <p:cBhvr>
                                  <p:cTn id="142" dur="200" fill="hold">
                                    <p:stCondLst>
                                      <p:cond delay="40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240000">
                                <p:cBhvr>
                                  <p:cTn id="143" dur="200" fill="hold">
                                    <p:stCondLst>
                                      <p:cond delay="60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120000">
                                <p:cBhvr>
                                  <p:cTn id="144" dur="200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  <p:par>
                          <p:cTn id="145" fill="hold" presetID="1" presetClass="emph" nodeType="with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146" dur="600" fill="hold"/>
                                  <p:tgtEl>
                                    <p:spTgt spid="7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  <p:par>
                          <p:cTn id="147" fill="hold" presetID="1" presetClass="emph" nodeType="withEffect">
                            <p:stCondLst>
                              <p:cond delay="250"/>
                            </p:stCondLst>
                            <p:childTnLst>
                              <p:animClr clrSpc="rgb" dir="cw">
                                <p:cBhvr>
                                  <p:cTn id="148" dur="600" fill="hold"/>
                                  <p:tgtEl>
                                    <p:spTgt spid="19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  <p:par>
                          <p:cTn id="149" fill="hold" presetID="9" presetClass="emph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o>
                                  <p:strVal val="0.5"/>
                                </p:to>
                              </p:set>
                              <p:animEffect filter="image" prLst="opacity: 0.5">
                                <p:cBhvr rctx="IE">
                                  <p:cTn id="151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2" fill="hold" presetID="9" presetClass="emph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53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o>
                                  <p:strVal val="0.5"/>
                                </p:to>
                              </p:set>
                              <p:animEffect filter="image" prLst="opacity: 0.5">
                                <p:cBhvr rctx="IE">
                                  <p:cTn id="154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 presetID="10" presetClass="exit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157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8" fill="hold" presetID="10" presetClass="exit" nodeType="withEffect">
                            <p:stCondLst>
                              <p:cond delay="80"/>
                            </p:stCondLst>
                            <p:childTnLst>
                              <p:animEffect transition="out" filter="fade">
                                <p:cBhvr>
                                  <p:cTn id="159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0" fill="hold" presetID="10" presetClass="exit" nodeType="withEffect">
                            <p:stCondLst>
                              <p:cond delay="160"/>
                            </p:stCondLst>
                            <p:childTnLst>
                              <p:animEffect transition="out" filter="fade">
                                <p:cBhvr>
                                  <p:cTn id="161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2" fill="hold" presetID="10" presetClass="exit" nodeType="withEffect">
                            <p:stCondLst>
                              <p:cond delay="240"/>
                            </p:stCondLst>
                            <p:childTnLst>
                              <p:animEffect transition="out" filter="fade">
                                <p:cBhvr>
                                  <p:cTn id="163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4" fill="hold" presetID="10" presetClass="exit" nodeType="withEffect">
                            <p:stCondLst>
                              <p:cond delay="320"/>
                            </p:stCondLst>
                            <p:childTnLst>
                              <p:animEffect transition="out" filter="fade">
                                <p:cBhvr>
                                  <p:cTn id="165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6" fill="hold" presetID="10" presetClass="exit" nodeType="withEffect">
                            <p:stCondLst>
                              <p:cond delay="400"/>
                            </p:stCondLst>
                            <p:childTnLst>
                              <p:animEffect transition="out" filter="fade">
                                <p:cBhvr>
                                  <p:cTn id="16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8" fill="hold" presetID="10" presetClass="exit" nodeType="withEffect">
                            <p:stCondLst>
                              <p:cond delay="480"/>
                            </p:stCondLst>
                            <p:childTnLst>
                              <p:animEffect transition="out" filter="fade">
                                <p:cBhvr>
                                  <p:cTn id="169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0" fill="hold" presetID="10" presetClass="exit" nodeType="withEffect">
                            <p:stCondLst>
                              <p:cond delay="560"/>
                            </p:stCondLst>
                            <p:childTnLst>
                              <p:animEffect transition="out" filter="fade">
                                <p:cBhvr>
                                  <p:cTn id="171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2" fill="hold" presetID="1" presetClass="exit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74" fill="hold" presetID="1" presetClass="exit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76" fill="hold" presetID="1" presetClass="exit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1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78" fill="hold" presetID="1" presetClass="exit" nodeType="withEffect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80" fill="hold" presetID="2" presetClass="exit" nodeType="withEffect" presetSubtype="2">
                            <p:stCondLst>
                              <p:cond delay="1200"/>
                            </p:stCondLst>
                            <p:childTnLst>
                              <p:anim calcmode="lin" valueType="num">
                                <p:cBhvr additive="base">
                                  <p:cTn id="181" dur="7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+0.25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2" dur="7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183" dur="1" fill="hold">
                                    <p:stCondLst>
                                      <p:cond delay="70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84" fill="hold" presetID="2" presetClass="exit" nodeType="withEffect" presetSubtype="2">
                            <p:stCondLst>
                              <p:cond delay="1300"/>
                            </p:stCondLst>
                            <p:childTnLst>
                              <p:anim calcmode="lin" valueType="num">
                                <p:cBhvr additive="base">
                                  <p:cTn id="185" dur="7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+0.25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6" dur="7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187" dur="1" fill="hold">
                                    <p:stCondLst>
                                      <p:cond delay="70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88" fill="hold" presetID="23" presetClass="exit" nodeType="withEffect" presetSubtype="16">
                            <p:stCondLst>
                              <p:cond delay="1400"/>
                            </p:stCondLst>
                            <p:childTnLst>
                              <p:animScale>
                                <p:cBhvr>
                                  <p:cTn id="189" dur="600" fill="hold"/>
                                  <p:tgtEl>
                                    <p:spTgt spid="15"/>
                                  </p:tgtEl>
                                </p:cBhvr>
                                <p:to x="0" y="0"/>
                              </p:animScale>
                              <p:animEffect transition="out" filter="fade">
                                <p:cBhvr>
                                  <p:cTn id="190" dur="600"/>
                                  <p:tgtEl>
                                    <p:spTgt spid="15"/>
                                  </p:tgtEl>
                                </p:cBhvr>
                              </p:animEffect>
                              <p:set>
                                <p:cBhvr>
                                  <p:cTn id="191" dur="1" fill="hold">
                                    <p:stCondLst>
                                      <p:cond delay="60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2" fill="hold" presetID="23" presetClass="exit" nodeType="withEffect" presetSubtype="16">
                            <p:stCondLst>
                              <p:cond delay="1500"/>
                            </p:stCondLst>
                            <p:childTnLst>
                              <p:animScale>
                                <p:cBhvr>
                                  <p:cTn id="193" dur="600" fill="hold"/>
                                  <p:tgtEl>
                                    <p:spTgt spid="21"/>
                                  </p:tgtEl>
                                </p:cBhvr>
                                <p:to x="0" y="0"/>
                              </p:animScale>
                              <p:animEffect transition="out" filter="fade">
                                <p:cBhvr>
                                  <p:cTn id="194" dur="600"/>
                                  <p:tgtEl>
                                    <p:spTgt spid="21"/>
                                  </p:tgtEl>
                                </p:cBhvr>
                              </p:animEffect>
                              <p:set>
                                <p:cBhvr>
                                  <p:cTn id="195" dur="1" fill="hold">
                                    <p:stCondLst>
                                      <p:cond delay="60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691640" cy="438912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64592"/>
            <a:ext cx="9509760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FEATURES USED — iSPRING COMPATIBILITY CHECKLIST BASE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1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42631"/>
                <a:gridCol w="1645920"/>
              </a:tblGrid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area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Effects &amp; features exercised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Slide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Basic entrance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Fade · Appear · Fly In (bottom) · Float In · Zoom · Split (Vertical In) · Wipe (From Bottom)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Exit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Fade Out · Disappear · Fly Out (right) · Zoom Out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02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Emphasis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Pulse · Grow/Shrink 150% · Spin 360° · Teeter · Change Fill Color · Transparency 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Motion paths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Right · Left · Up + Down simultaneous · Diagonal · Custom Bézier curve · Follow-the-leader (+250 ms)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04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Timing &amp; sequencing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On Click · With Previous · After Previous chains · delays 0–850 ms · durations 0.3–1.4 s · multi-effect groups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05 / 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Text animation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Whole text box · by paragraph range (pRg) · sequential bullet builds · mixed timings per paragraph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06 / 09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Charts &amp; diagrams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Column chart animated as one object (bldAsOne) · chevron process flow (sequential wipe) · milestone timeline (zoom chain)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Images &amp; media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Picture zoom-in / motion path / fade-out · image + caption simultaneous entrance · embedded MP4 video · push slide transition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08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Complex combinations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enter→move→emphasize→exit lifecycle · text line-by-line + simultaneous motion · staggered layered overlaps · Fade transition + foreground animations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Heavy stress test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29 animated objects · ~60 timed effects · 5 click stages · mixed entrances/emphasis/exits/paths/spins/text builds · overlapping cluster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TEST 10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864"/>
                          </a:solidFill>
                        </a:defRPr>
                      </a:pPr>
                      <a:r>
                        <a:t>Transitions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Fade (TEST 09) · Push Left (TEST 08)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595959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Tick Pass/Fail per row after running this deck through iSpring Suite and comparing its HTML5 output against this original 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