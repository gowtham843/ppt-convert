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05840"/>
            <a:ext cx="114300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</a:rPr>
              <a:t>iSpring Effect Catalog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2011680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A6A6A6"/>
                </a:solidFill>
              </a:rPr>
              <a:t>167 animations — one per slide — for PowerPoint→HTML5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2743200"/>
            <a:ext cx="11430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A6A6A6"/>
                </a:solidFill>
              </a:rPr>
              <a:t>Entrance 40 · Emphasis 24 · Exit 40 · Motion Paths 63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035040"/>
            <a:ext cx="11430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Each effect: click the labelled object to trigger. Advance slides to audit every effect.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640080"/>
            <a:ext cx="114300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70AD47"/>
                </a:solidFill>
              </a:rPr>
              <a:t>Entrance animations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1645920"/>
            <a:ext cx="11430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A6A6A6"/>
                </a:solidFill>
              </a:rPr>
              <a:t>40 effects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23774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01  Appear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8346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02  Box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32918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03  Circle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3749039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04  Diamond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42062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05  Blinds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46634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06  Checkerboard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51206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07  Dissolve 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55778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08  Fly In (From Bottom)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60350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09  Peek In (From Bottom)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64922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10  Random Bars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69494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11  Split (Vertical In)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74066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12  Wedge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78638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13  Wipe (From Bottom)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83210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14  Plus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59" y="23774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15  Strips (Down Left)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59" y="28346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16  Wheel (1 Spoke)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59" y="32918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17  Expand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59" y="3749039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18  Fade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59" y="42062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19  Swivel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59" y="46634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20  Zoom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1959" y="51206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21  Basic Zoom (In)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51959" y="55778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22  Center Revolve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59" y="60350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23  Grow &amp; Turn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59" y="64922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24  Spinner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51959" y="69494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25  Float Down (In)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51959" y="74066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26  Float Up (In)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59" y="78638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27  Rise Up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59" y="83210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28  Compress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3879" y="23774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29  Stretch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79" y="28346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30  Basic Swivel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79" y="32918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31  Bounce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83879" y="3749039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32  Curve Up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83879" y="42062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33  Flip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83879" y="46634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34  Pinwheel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83879" y="51206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35  Whip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83879" y="55778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36  Boomerang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83879" y="60350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37  Credits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83879" y="64922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38  Drop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83879" y="69494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39  Float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83879" y="74066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40  Spiral 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#001   ENTRANCE   (slide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70AD47"/>
                </a:solidFill>
              </a:rPr>
              <a:t>Appear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1:entr · appear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Appear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1" presetClass="entr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#002   ENTRANCE   (slide 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70AD47"/>
                </a:solidFill>
              </a:rPr>
              <a:t>Box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4:entr · box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Box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4" presetClass="entr" nodeType="clickEffect" presetSubtype="16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ox">
                                <p:cBhvr>
                                  <p:cTn id="7" dur="8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#003   ENTRANCE   (slide 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70AD47"/>
                </a:solidFill>
              </a:rPr>
              <a:t>Circle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6:entr · circle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Circle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6" presetClass="entr" nodeType="clickEffect" presetSubtype="16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">
                                <p:cBhvr>
                                  <p:cTn id="7" dur="8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#004   ENTRANCE   (slide 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70AD47"/>
                </a:solidFill>
              </a:rPr>
              <a:t>Diamond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8:entr · diamond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Diamond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8" presetClass="entr" nodeType="clickEffect" presetSubtype="16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amond">
                                <p:cBhvr>
                                  <p:cTn id="7" dur="8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#005   ENTRANCE   (slide 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70AD47"/>
                </a:solidFill>
              </a:rPr>
              <a:t>Blinds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3:entr · blinds(vertical)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Blinds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3" presetClass="entr" nodeType="clickEffect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vertical)">
                                <p:cBhvr>
                                  <p:cTn id="7" dur="8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#006   ENTRANCE   (slide 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70AD47"/>
                </a:solidFill>
              </a:rPr>
              <a:t>Checkerboard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5:entr · checkerboard(across)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Checkerboard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5" presetClass="entr" nodeType="clickEffect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7" dur="8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#007   ENTRANCE   (slide 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70AD47"/>
                </a:solidFill>
              </a:rPr>
              <a:t>Dissolve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9:entr · dissolve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Dissolve In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9" presetClass="entr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7" dur="8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#008   ENTRANCE   (slide 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70AD47"/>
                </a:solidFill>
              </a:rPr>
              <a:t>Fly In (From Bottom)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2:entr · fly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Fly In (From Bottom)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2" presetClass="entr" nodeType="clickEffect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7" dur="8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8" dur="8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2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#009   ENTRANCE   (slide 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70AD47"/>
                </a:solidFill>
              </a:rPr>
              <a:t>Peek In (From Bottom)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12:entr · fly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Peek In (From Bottom)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12" presetClass="entr" nodeType="clickEffect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7" dur="8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8" dur="8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2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#010   ENTRANCE   (slide 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70AD47"/>
                </a:solidFill>
              </a:rPr>
              <a:t>Random Bars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14:entr · randombars(horizontal)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Random Bars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14" presetClass="entr" nodeType="clickEffect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s(horizontal)">
                                <p:cBhvr>
                                  <p:cTn id="7" dur="8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#011   ENTRANCE   (slide 13)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70AD47"/>
                </a:solidFill>
              </a:rPr>
              <a:t>Split (Vertical 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16:entr · barn(inVertical)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Split (Vertical In)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16" presetClass="entr" nodeType="clickEffect" presetSubtype="26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Vertical)">
                                <p:cBhvr>
                                  <p:cTn id="7" dur="8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#012   ENTRANCE   (slide 14)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70AD47"/>
                </a:solidFill>
              </a:rPr>
              <a:t>Wedge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20:entr · wedge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Wedge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20" presetClass="entr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7" dur="8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#013   ENTRANCE   (slide 15)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70AD47"/>
                </a:solidFill>
              </a:rPr>
              <a:t>Wipe (From Bottom)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22:entr · wipe(up)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Wipe (From Bottom)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22" presetClass="entr" nodeType="clickEffect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7" dur="8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#014   ENTRANCE   (slide 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70AD47"/>
                </a:solidFill>
              </a:rPr>
              <a:t>Plus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13:entr · plus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Plus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13" presetClass="entr" nodeType="clickEffect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lus">
                                <p:cBhvr>
                                  <p:cTn id="7" dur="8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#015   ENTRANCE   (slide 17)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70AD47"/>
                </a:solidFill>
              </a:rPr>
              <a:t>Strips (Down Left)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18:entr · strips(downleft)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Strips (Down Left)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18" presetClass="entr" nodeType="clickEffect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left)">
                                <p:cBhvr>
                                  <p:cTn id="7" dur="8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#016   ENTRANCE   (slide 18)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70AD47"/>
                </a:solidFill>
              </a:rPr>
              <a:t>Wheel (1 Spoke)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21:entr · wheel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Wheel (1 Spoke)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21" presetClass="entr" nodeType="clickEffect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7" dur="8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#017   ENTRANCE   (slide 19)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70AD47"/>
                </a:solidFill>
              </a:rPr>
              <a:t>Expand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50:entr · expand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Expand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50" presetClass="entr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Scale>
                                <p:cBhvr>
                                  <p:cTn id="7" dur="800" fill="hold"/>
                                  <p:tgtEl>
                                    <p:spTgt spid="5"/>
                                  </p:tgtEl>
                                </p:cBhvr>
                                <p:from x="0" y="0"/>
                                <p:to x="100000" y="100000"/>
                              </p:animScale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#018   ENTRANCE   (slide 20)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70AD47"/>
                </a:solidFill>
              </a:rPr>
              <a:t>Fade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10:entr · fade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Fade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10" presetClass="entr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" dur="8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#019   ENTRANCE   (slide 21)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70AD47"/>
                </a:solidFill>
              </a:rPr>
              <a:t>Swivel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19:entr · swivel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Swivel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19" presetClass="entr" nodeType="clickEffect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Scale>
                                <p:cBhvr>
                                  <p:cTn id="7" dur="800" fill="hold"/>
                                  <p:tgtEl>
                                    <p:spTgt spid="5"/>
                                  </p:tgtEl>
                                </p:cBhvr>
                                <p:from x="0" y="0"/>
                                <p:to x="100000" y="100000"/>
                              </p:animScale>
                              <p:animRot by="36000">
                                <p:cBhvr>
                                  <p:cTn id="8" dur="8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r</p:attrName>
                                  </p:attrNameLst>
                                </p:cBhvr>
                              </p:animRo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#020   ENTRANCE   (slide 22)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70AD47"/>
                </a:solidFill>
              </a:rPr>
              <a:t>Zoom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23:entr · zoom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Zoom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23" presetClass="entr" nodeType="clickEffect" presetSubtype="16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" dur="800"/>
                                  <p:tgtEl>
                                    <p:spTgt spid="5"/>
                                  </p:tgtEl>
                                </p:cBhvr>
                              </p:animEffect>
                              <p:animScale>
                                <p:cBhvr>
                                  <p:cTn id="8" dur="800" fill="hold"/>
                                  <p:tgtEl>
                                    <p:spTgt spid="5"/>
                                  </p:tgtEl>
                                </p:cBhvr>
                                <p:from x="0" y="0"/>
                                <p:to x="100000" y="100000"/>
                              </p:animScale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#021   ENTRANCE   (slide 23)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70AD47"/>
                </a:solidFill>
              </a:rPr>
              <a:t>Basic Zoom (In)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53:entr · zoom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Basic Zoom (In)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53" presetClass="entr" nodeType="clickEffect" presetSubtype="16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" dur="800"/>
                                  <p:tgtEl>
                                    <p:spTgt spid="5"/>
                                  </p:tgtEl>
                                </p:cBhvr>
                              </p:animEffect>
                              <p:animScale>
                                <p:cBhvr>
                                  <p:cTn id="8" dur="800" fill="hold"/>
                                  <p:tgtEl>
                                    <p:spTgt spid="5"/>
                                  </p:tgtEl>
                                </p:cBhvr>
                                <p:from x="0" y="0"/>
                                <p:to x="100000" y="100000"/>
                              </p:animScale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#022   ENTRANCE   (slide 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70AD47"/>
                </a:solidFill>
              </a:rPr>
              <a:t>Center Revolve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47:entr · center_revolve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Center Revolve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47" presetClass="entr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Rot by="360000">
                                <p:cBhvr>
                                  <p:cTn id="7" dur="8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r</p:attrName>
                                  </p:attrNameLst>
                                </p:cBhvr>
                              </p:animRot>
                              <p:animScale>
                                <p:cBhvr>
                                  <p:cTn id="8" dur="800" fill="hold"/>
                                  <p:tgtEl>
                                    <p:spTgt spid="5"/>
                                  </p:tgtEl>
                                </p:cBhvr>
                                <p:to x="100000" y="100000"/>
                              </p:animScale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#023   ENTRANCE   (slide 25)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70AD47"/>
                </a:solidFill>
              </a:rPr>
              <a:t>Grow &amp; Turn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37:entr · grow_turn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Grow &amp; Turn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37" presetClass="entr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Scale>
                                <p:cBhvr>
                                  <p:cTn id="7" dur="800" fill="hold"/>
                                  <p:tgtEl>
                                    <p:spTgt spid="5"/>
                                  </p:tgtEl>
                                </p:cBhvr>
                                <p:by x="200000" y="200000"/>
                              </p:animScale>
                              <p:animRot by="180000">
                                <p:cBhvr>
                                  <p:cTn id="8" dur="8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r</p:attrName>
                                  </p:attrNameLst>
                                </p:cBhvr>
                              </p:animRo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#024   ENTRANCE   (slide 26)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70AD47"/>
                </a:solidFill>
              </a:rPr>
              <a:t>Spinner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51:entr · spinner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Spinner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51" presetClass="entr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Rot by="17200000">
                                <p:cBhvr>
                                  <p:cTn id="7" dur="8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r</p:attrName>
                                  </p:attrNameLst>
                                </p:cBhvr>
                              </p:animRo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#025   ENTRANCE   (slide 27)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70AD47"/>
                </a:solidFill>
              </a:rPr>
              <a:t>Float Down (In)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52:entr · float_in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Float Down (In)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52" presetClass="entr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" dur="800"/>
                                  <p:tgtEl>
                                    <p:spTgt spid="5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8" dur="8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6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#026   ENTRANCE   (slide 28)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70AD47"/>
                </a:solidFill>
              </a:rPr>
              <a:t>Float Up (In)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53:entr · float_in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Float Up (In)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53" presetClass="entr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" dur="800"/>
                                  <p:tgtEl>
                                    <p:spTgt spid="5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8" dur="8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6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#027   ENTRANCE   (slide 29)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70AD47"/>
                </a:solidFill>
              </a:rPr>
              <a:t>Rise 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40:entr · rise_up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Rise Up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40" presetClass="entr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7" dur="8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1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8" dur="8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#028   ENTRANCE   (slide 30)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70AD47"/>
                </a:solidFill>
              </a:rPr>
              <a:t>Compress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56:entr · compress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Compress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56" presetClass="entr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Scale>
                                <p:cBhvr>
                                  <p:cTn id="7" dur="800" fill="hold" autoRev="1"/>
                                  <p:tgtEl>
                                    <p:spTgt spid="5"/>
                                  </p:tgtEl>
                                </p:cBhvr>
                                <p:by x="200000" y="200000"/>
                              </p:animScale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#029   ENTRANCE   (slide 31)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70AD47"/>
                </a:solidFill>
              </a:rPr>
              <a:t>Stretch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17:entr · stretch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Stretch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17" presetClass="entr" nodeType="clickEffect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Scale>
                                <p:cBhvr>
                                  <p:cTn id="7" dur="800" fill="hold"/>
                                  <p:tgtEl>
                                    <p:spTgt spid="5"/>
                                  </p:tgtEl>
                                </p:cBhvr>
                                <p:from x="None" y="0"/>
                                <p:to x="None" y="100000"/>
                              </p:animScale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#030   ENTRANCE   (slide 32)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70AD47"/>
                </a:solidFill>
              </a:rPr>
              <a:t>Basic Swivel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54:entr · swivel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Basic Swivel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54" presetClass="entr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Scale>
                                <p:cBhvr>
                                  <p:cTn id="7" dur="800" fill="hold"/>
                                  <p:tgtEl>
                                    <p:spTgt spid="5"/>
                                  </p:tgtEl>
                                </p:cBhvr>
                                <p:from x="0" y="0"/>
                                <p:to x="100000" y="100000"/>
                              </p:animScale>
                              <p:animRot by="36000">
                                <p:cBhvr>
                                  <p:cTn id="8" dur="8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r</p:attrName>
                                  </p:attrNameLst>
                                </p:cBhvr>
                              </p:animRo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#031   ENTRANCE   (slide 33)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70AD47"/>
                </a:solidFill>
              </a:rPr>
              <a:t>Bounce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33:entr · bounce_in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Bounce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33" presetClass="entr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7" dur="48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3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8" dur="800"/>
                                  <p:tgtEl>
                                    <p:spTgt spid="5"/>
                                  </p:tgtEl>
                                </p:cBhvr>
                              </p:animEffect>
                              <p:animScale>
                                <p:cBhvr>
                                  <p:cTn id="9" dur="250" fill="hold" autoRev="1"/>
                                  <p:tgtEl>
                                    <p:spTgt spid="5"/>
                                  </p:tgtEl>
                                </p:cBhvr>
                                <p:by x="100000" y="100000"/>
                              </p:animScale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#032   ENTRANCE   (slide 34)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70AD47"/>
                </a:solidFill>
              </a:rPr>
              <a:t>Curve 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34:entr · curve_up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Curve Up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34" presetClass="entr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7" dur="8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#033   ENTRANCE   (slide 35)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70AD47"/>
                </a:solidFill>
              </a:rPr>
              <a:t>Flip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35:entr · flip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Flip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35" presetClass="entr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Scale>
                                <p:cBhvr>
                                  <p:cTn id="7" dur="800" fill="hold"/>
                                  <p:tgtEl>
                                    <p:spTgt spid="5"/>
                                  </p:tgtEl>
                                </p:cBhvr>
                                <p:from x="100000" y="0"/>
                                <p:to x="100000" y="100000"/>
                              </p:animScale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#034   ENTRANCE   (slide 36)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70AD47"/>
                </a:solidFill>
              </a:rPr>
              <a:t>Pinwheel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39:entr · spinner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Pinwheel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39" presetClass="entr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Rot by="17200000">
                                <p:cBhvr>
                                  <p:cTn id="7" dur="8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r</p:attrName>
                                  </p:attrNameLst>
                                </p:cBhvr>
                              </p:animRo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#035   ENTRANCE   (slide 37)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70AD47"/>
                </a:solidFill>
              </a:rPr>
              <a:t>Whip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45:entr · whip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Whip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45" presetClass="entr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Rot by="360000">
                                <p:cBhvr>
                                  <p:cTn id="7" dur="48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r</p:attrName>
                                  </p:attrNameLst>
                                </p:cBhvr>
                              </p:animRot>
                              <p:anim calcmode="lin" valueType="num">
                                <p:cBhvr additive="base">
                                  <p:cTn id="8" dur="8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-0.2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#036   ENTRANCE   (slide 38)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70AD47"/>
                </a:solidFill>
              </a:rPr>
              <a:t>Boomerang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32:entr · boomerang_in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Boomerang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32" presetClass="entr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7" dur="8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-0.3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Rot by="144000">
                                <p:cBhvr>
                                  <p:cTn id="8" dur="8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r</p:attrName>
                                  </p:attrNameLst>
                                </p:cBhvr>
                              </p:animRo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#037   ENTRANCE   (slide 39)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70AD47"/>
                </a:solidFill>
              </a:rPr>
              <a:t>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34:entr · credits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Credits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34" presetClass="entr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7" dur="8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"/>
                                    </p:val>
                                  </p:tav>
                                  <p:tav tm="100000">
                                    <p:val>
                                      <p:strVal val="#ppt_y-0.1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8" dur="8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#038   ENTRANCE   (slide 40)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70AD47"/>
                </a:solidFill>
              </a:rPr>
              <a:t>Drop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36:entr · drop_in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Drop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36" presetClass="entr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7" dur="533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-0.3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8" dur="8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#039   ENTRANCE   (slide 41)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70AD47"/>
                </a:solidFill>
              </a:rPr>
              <a:t>Float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30:entr · float_in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Float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30" presetClass="entr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" dur="800"/>
                                  <p:tgtEl>
                                    <p:spTgt spid="5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8" dur="8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6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#040   ENTRANCE   (slide 42)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70AD47"/>
                </a:solidFill>
              </a:rPr>
              <a:t>Spiral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15:entr · spiral_in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Spiral In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15" presetClass="entr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Scale>
                                <p:cBhvr>
                                  <p:cTn id="7" dur="800" fill="hold"/>
                                  <p:tgtEl>
                                    <p:spTgt spid="5"/>
                                  </p:tgtEl>
                                </p:cBhvr>
                                <p:from x="0" y="0"/>
                                <p:to x="100000" y="100000"/>
                              </p:animScale>
                              <p:animRot by="720000">
                                <p:cBhvr>
                                  <p:cTn id="8" dur="8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r</p:attrName>
                                  </p:attrNameLst>
                                </p:cBhvr>
                              </p:animRo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640080"/>
            <a:ext cx="114300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ED7D31"/>
                </a:solidFill>
              </a:rPr>
              <a:t>Emphasis animations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1645920"/>
            <a:ext cx="11430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A6A6A6"/>
                </a:solidFill>
              </a:rPr>
              <a:t>24 effects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23774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01  Fill Color (→ red)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8346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02  Font Color (→ red)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32918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03  Grow/Shrink (→ 150%)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3749039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04  Transparency (→ 50%)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42062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05  Spin (360°)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46634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06  Line Color (→ red)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51206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07  Bold Flash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55778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08  Complementary Color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59" y="23774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09  Complementary Color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59" y="28346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10  Brush Color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59" y="32918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11  Contrasting Color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59" y="3749039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12  Darken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59" y="42062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13  Desaturate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59" y="46634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14  Lighten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59" y="51206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15  Object Color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59" y="55778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16  Pulse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23774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17  Underline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28346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18  Color Pulse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32918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19  Grow With Color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79" y="3749039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20  Shimmer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79" y="42062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21  Teeter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79" y="46634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22  Blink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79" y="51206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23  Bold Reveal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79" y="55778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24  Wave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#041   EMPHASIS   (slide 44)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ED7D31"/>
                </a:solidFill>
              </a:rPr>
              <a:t>Fill Color (→ red)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1:emph · fill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Fill Color (→ red)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1" presetClass="emph" nodeType="clickEffect">
                            <p:stCondLst>
                              <p:cond delay="0"/>
                            </p:stCondLst>
                            <p:childTnLst>
                              <p:animClr clrSpc="rgb" dir="cw">
                                <p:cBhvr>
                                  <p:cTn id="6" dur="800" fill="hold"/>
                                  <p:tgtEl>
                                    <p:spTgt spid="5"/>
                                  </p:tgtEl>
                                  <p:attrNameLst>
                                    <p:attrName>fillcolor</p:attrName>
                                  </p:attrNameLst>
                                </p:cBhvr>
                                <p:to>
                                  <a:srgbClr val="C00000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#042   EMPHASIS   (slide 45)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ED7D31"/>
                </a:solidFill>
              </a:rPr>
              <a:t>Font Color (→ red)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2:emph · font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Font Color (→ red)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2" presetClass="emph" nodeType="clickEffect">
                            <p:stCondLst>
                              <p:cond delay="0"/>
                            </p:stCondLst>
                            <p:childTnLst>
                              <p:animClr clrSpc="rgb" dir="cw">
                                <p:cBhvr>
                                  <p:cTn id="6" dur="800" fill="hold"/>
                                  <p:tgtEl>
                                    <p:spTgt spid="5"/>
                                  </p:tgtEl>
                                  <p:attrNameLst>
                                    <p:attrName>style.color</p:attrName>
                                  </p:attrNameLst>
                                </p:cBhvr>
                                <p:to>
                                  <a:srgbClr val="C00000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#043   EMPHASIS   (slide 46)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ED7D31"/>
                </a:solidFill>
              </a:rPr>
              <a:t>Grow/Shrink (→ 150%)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6:emph · grow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Grow/Shrink (→ 150%)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6" presetClass="emph" nodeType="clickEffect">
                            <p:stCondLst>
                              <p:cond delay="0"/>
                            </p:stCondLst>
                            <p:childTnLst>
                              <p:animScale>
                                <p:cBhvr>
                                  <p:cTn id="6" dur="800" fill="hold"/>
                                  <p:tgtEl>
                                    <p:spTgt spid="5"/>
                                  </p:tgtEl>
                                </p:cBhvr>
                                <p:by x="150000" y="150000"/>
                              </p:animScale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#044   EMPHASIS   (slide 47)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ED7D31"/>
                </a:solidFill>
              </a:rPr>
              <a:t>Transparency (→ 50%)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9:emph · opacity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Transparency (→ 50%)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9" presetClass="emph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/>
                                  <p:tgtEl>
                                    <p:spTgt spid="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o>
                                  <p:strVal val="0.5"/>
                                </p:to>
                              </p:set>
                              <p:animEffect filter="image" prLst="opacity: 0.5">
                                <p:cBhvr rctx="IE">
                                  <p:cTn id="7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#045   EMPHASIS   (slide 48)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ED7D31"/>
                </a:solidFill>
              </a:rPr>
              <a:t>Spin (360°)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8:emph · spin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Spin (360°)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8" presetClass="emph" nodeType="clickEffect">
                            <p:stCondLst>
                              <p:cond delay="0"/>
                            </p:stCondLst>
                            <p:childTnLst>
                              <p:animRot by="21600000">
                                <p:cBhvr>
                                  <p:cTn id="6" dur="8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r</p:attrName>
                                  </p:attrNameLst>
                                </p:cBhvr>
                              </p:animRo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#046   EMPHASIS   (slide 49)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ED7D31"/>
                </a:solidFill>
              </a:rPr>
              <a:t>Line Color (→ red)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7:emph · line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Line Color (→ red)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7" presetClass="emph" nodeType="clickEffect">
                            <p:stCondLst>
                              <p:cond delay="0"/>
                            </p:stCondLst>
                            <p:childTnLst>
                              <p:animClr clrSpc="rgb" dir="cw">
                                <p:cBhvr>
                                  <p:cTn id="6" dur="800" fill="hold"/>
                                  <p:tgtEl>
                                    <p:spTgt spid="5"/>
                                  </p:tgtEl>
                                  <p:attrNameLst>
                                    <p:attrName>strokeColor</p:attrName>
                                  </p:attrNameLst>
                                </p:cBhvr>
                                <p:to>
                                  <a:srgbClr val="C00000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#047   EMPHASIS   (slide 50)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ED7D31"/>
                </a:solidFill>
              </a:rPr>
              <a:t>Bold Flash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10:emph · bold_flash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Bold Flash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10" presetClass="emph" nodeType="clickEffect">
                            <p:stCondLst>
                              <p:cond delay="0"/>
                            </p:stCondLst>
                            <p:childTnLst>
                              <p:animEffect transition="out" filter="fade">
                                <p:cBhvr>
                                  <p:cTn id="6" dur="48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#048   EMPHASIS   (slide 51)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ED7D31"/>
                </a:solidFill>
              </a:rPr>
              <a:t>Complementary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14:emph · fill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Complementary Color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14" presetClass="emph" nodeType="clickEffect">
                            <p:stCondLst>
                              <p:cond delay="0"/>
                            </p:stCondLst>
                            <p:childTnLst>
                              <p:animClr clrSpc="rgb" dir="cw">
                                <p:cBhvr>
                                  <p:cTn id="6" dur="800" fill="hold"/>
                                  <p:tgtEl>
                                    <p:spTgt spid="5"/>
                                  </p:tgtEl>
                                  <p:attrNameLst>
                                    <p:attrName>fillcolor</p:attrName>
                                  </p:attrNameLst>
                                </p:cBhvr>
                                <p:to>
                                  <a:srgbClr val="00B050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#049   EMPHASIS   (slide 52)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ED7D31"/>
                </a:solidFill>
              </a:rPr>
              <a:t>Complementary Color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15:emph · fill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Complementary Color 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15" presetClass="emph" nodeType="clickEffect">
                            <p:stCondLst>
                              <p:cond delay="0"/>
                            </p:stCondLst>
                            <p:childTnLst>
                              <p:animClr clrSpc="rgb" dir="cw">
                                <p:cBhvr>
                                  <p:cTn id="6" dur="800" fill="hold"/>
                                  <p:tgtEl>
                                    <p:spTgt spid="5"/>
                                  </p:tgtEl>
                                  <p:attrNameLst>
                                    <p:attrName>fillcolor</p:attrName>
                                  </p:attrNameLst>
                                </p:cBhvr>
                                <p:to>
                                  <a:srgbClr val="ED7D31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#050   EMPHASIS   (slide 53)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ED7D31"/>
                </a:solidFill>
              </a:rPr>
              <a:t>Brush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12:emph · font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Brush Color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12" presetClass="emph" nodeType="clickEffect">
                            <p:stCondLst>
                              <p:cond delay="0"/>
                            </p:stCondLst>
                            <p:childTnLst>
                              <p:animClr clrSpc="rgb" dir="cw">
                                <p:cBhvr>
                                  <p:cTn id="6" dur="800" fill="hold"/>
                                  <p:tgtEl>
                                    <p:spTgt spid="5"/>
                                  </p:tgtEl>
                                  <p:attrNameLst>
                                    <p:attrName>style.color</p:attrName>
                                  </p:attrNameLst>
                                </p:cBhvr>
                                <p:to>
                                  <a:srgbClr val="7030A0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#051   EMPHASIS   (slide 54)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ED7D31"/>
                </a:solidFill>
              </a:rPr>
              <a:t>Contrasting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16:emph · fill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Contrasting Color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16" presetClass="emph" nodeType="clickEffect">
                            <p:stCondLst>
                              <p:cond delay="0"/>
                            </p:stCondLst>
                            <p:childTnLst>
                              <p:animClr clrSpc="rgb" dir="cw">
                                <p:cBhvr>
                                  <p:cTn id="6" dur="800" fill="hold"/>
                                  <p:tgtEl>
                                    <p:spTgt spid="5"/>
                                  </p:tgtEl>
                                  <p:attrNameLst>
                                    <p:attrName>fillcolor</p:attrName>
                                  </p:attrNameLst>
                                </p:cBhvr>
                                <p:to>
                                  <a:srgbClr val="FFC000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#052   EMPHASIS   (slide 55)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ED7D31"/>
                </a:solidFill>
              </a:rPr>
              <a:t>Darken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17:emph · opacity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Darken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17" presetClass="emph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/>
                                  <p:tgtEl>
                                    <p:spTgt spid="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o>
                                  <p:strVal val="0.3"/>
                                </p:to>
                              </p:set>
                              <p:animEffect filter="image" prLst="opacity: 0.3">
                                <p:cBhvr rctx="IE">
                                  <p:cTn id="7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#053   EMPHASIS   (slide 56)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ED7D31"/>
                </a:solidFill>
              </a:rPr>
              <a:t>Desaturate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18:emph · fill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Desaturate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18" presetClass="emph" nodeType="clickEffect">
                            <p:stCondLst>
                              <p:cond delay="0"/>
                            </p:stCondLst>
                            <p:childTnLst>
                              <p:animClr clrSpc="rgb" dir="cw">
                                <p:cBhvr>
                                  <p:cTn id="6" dur="800" fill="hold"/>
                                  <p:tgtEl>
                                    <p:spTgt spid="5"/>
                                  </p:tgtEl>
                                  <p:attrNameLst>
                                    <p:attrName>fillcolor</p:attrName>
                                  </p:attrNameLst>
                                </p:cBhvr>
                                <p:to>
                                  <a:srgbClr val="808080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#054   EMPHASIS   (slide 57)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ED7D31"/>
                </a:solidFill>
              </a:rPr>
              <a:t>Lighten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22:emph · fill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Lighten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22" presetClass="emph" nodeType="clickEffect">
                            <p:stCondLst>
                              <p:cond delay="0"/>
                            </p:stCondLst>
                            <p:childTnLst>
                              <p:animClr clrSpc="rgb" dir="cw">
                                <p:cBhvr>
                                  <p:cTn id="6" dur="800" fill="hold"/>
                                  <p:tgtEl>
                                    <p:spTgt spid="5"/>
                                  </p:tgtEl>
                                  <p:attrNameLst>
                                    <p:attrName>fillcolor</p:attrName>
                                  </p:attrNameLst>
                                </p:cBhvr>
                                <p:to>
                                  <a:srgbClr val="FFFFFF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#055   EMPHASIS   (slide 58)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ED7D31"/>
                </a:solidFill>
              </a:rPr>
              <a:t>Object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25:emph · fill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Object Color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25" presetClass="emph" nodeType="clickEffect">
                            <p:stCondLst>
                              <p:cond delay="0"/>
                            </p:stCondLst>
                            <p:childTnLst>
                              <p:animClr clrSpc="rgb" dir="cw">
                                <p:cBhvr>
                                  <p:cTn id="6" dur="800" fill="hold"/>
                                  <p:tgtEl>
                                    <p:spTgt spid="5"/>
                                  </p:tgtEl>
                                  <p:attrNameLst>
                                    <p:attrName>fillcolor</p:attrName>
                                  </p:attrNameLst>
                                </p:cBhvr>
                                <p:to>
                                  <a:srgbClr val="C00000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#056   EMPHASIS   (slide 59)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ED7D31"/>
                </a:solidFill>
              </a:rP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35:emph · pulse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Pulse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35" presetClass="emph" nodeType="clickEffect">
                            <p:stCondLst>
                              <p:cond delay="0"/>
                            </p:stCondLst>
                            <p:childTnLst>
                              <p:animEffect transition="out" filter="fade">
                                <p:cBhvr>
                                  <p:cTn id="6" dur="500" tmFilter="0, 0; .2, .5; .8, .5; 1, 0"/>
                                  <p:tgtEl>
                                    <p:spTgt spid="5"/>
                                  </p:tgtEl>
                                </p:cBhvr>
                              </p:animEffect>
                              <p:animScale>
                                <p:cBhvr>
                                  <p:cTn id="7" dur="250" fill="hold" autoRev="1"/>
                                  <p:tgtEl>
                                    <p:spTgt spid="5"/>
                                  </p:tgtEl>
                                </p:cBhvr>
                                <p:by x="105000" y="105000"/>
                              </p:animScale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#057   EMPHASIS   (slide 60)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ED7D31"/>
                </a:solidFill>
              </a:rPr>
              <a:t>Underline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17:emph · underline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Underline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17" presetClass="emph" nodeType="clickEffect">
                            <p:stCondLst>
                              <p:cond delay="0"/>
                            </p:stCondLst>
                            <p:childTnLst>
                              <p:animClr clrSpc="rgb" dir="cw">
                                <p:cBhvr>
                                  <p:cTn id="6" dur="800" fill="hold"/>
                                  <p:tgtEl>
                                    <p:spTgt spid="5"/>
                                  </p:tgtEl>
                                  <p:attrNameLst>
                                    <p:attrName>style.color</p:attrName>
                                  </p:attrNameLst>
                                </p:cBhvr>
                                <p:to>
                                  <a:srgbClr val="C00000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#058   EMPHASIS   (slide 61)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ED7D31"/>
                </a:solidFill>
              </a:rPr>
              <a:t>Color 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20:emph · fill_cycle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Color Pulse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20" presetClass="emph" nodeType="clickEffect">
                            <p:stCondLst>
                              <p:cond delay="0"/>
                            </p:stCondLst>
                            <p:childTnLst>
                              <p:animClr clrSpc="rgb" dir="cw">
                                <p:cBhvr>
                                  <p:cTn id="6" dur="800" fill="hold"/>
                                  <p:tgtEl>
                                    <p:spTgt spid="5"/>
                                  </p:tgtEl>
                                  <p:attrNameLst>
                                    <p:attrName>fillcolor</p:attrName>
                                  </p:attrNameLst>
                                </p:cBhvr>
                                <p:to>
                                  <a:srgbClr val="C00000"/>
                                </p:to>
                              </p:animClr>
                              <p:animClr clrSpc="rgb" dir="cw">
                                <p:cBhvr>
                                  <p:cTn id="7" dur="800" fill="hold"/>
                                  <p:tgtEl>
                                    <p:spTgt spid="5"/>
                                  </p:tgtEl>
                                  <p:attrNameLst>
                                    <p:attrName>fillcolor</p:attrName>
                                  </p:attrNameLst>
                                </p:cBhvr>
                                <p:to>
                                  <a:srgbClr val="008000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#059   EMPHASIS   (slide 62)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ED7D31"/>
                </a:solidFill>
              </a:rPr>
              <a:t>Grow With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21:emph · grow_color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Grow With Color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21" presetClass="emph" nodeType="clickEffect">
                            <p:stCondLst>
                              <p:cond delay="0"/>
                            </p:stCondLst>
                            <p:childTnLst>
                              <p:animScale>
                                <p:cBhvr>
                                  <p:cTn id="6" dur="800" fill="hold" autoRev="1"/>
                                  <p:tgtEl>
                                    <p:spTgt spid="5"/>
                                  </p:tgtEl>
                                </p:cBhvr>
                                <p:by x="160000" y="160000"/>
                              </p:animScale>
                              <p:animClr clrSpc="rgb" dir="cw">
                                <p:cBhvr>
                                  <p:cTn id="7" dur="800" fill="hold"/>
                                  <p:tgtEl>
                                    <p:spTgt spid="5"/>
                                  </p:tgtEl>
                                  <p:attrNameLst>
                                    <p:attrName>fillcolor</p:attrName>
                                  </p:attrNameLst>
                                </p:cBhvr>
                                <p:to>
                                  <a:srgbClr val="C00000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#060   EMPHASIS   (slide 63)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ED7D31"/>
                </a:solidFill>
              </a:rPr>
              <a:t>Shimmer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38:emph · shimmer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Shimmer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38" presetClass="emph" nodeType="click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" dur="480" tmFilter="0, 0; .5, 1; 1, 0"/>
                                  <p:tgtEl>
                                    <p:spTgt spid="5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7" dur="8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-0.15"/>
                                    </p:val>
                                  </p:tav>
                                  <p:tav tm="100000">
                                    <p:val>
                                      <p:strVal val="#ppt_x+0.15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#061   EMPHASIS   (slide 64)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ED7D31"/>
                </a:solidFill>
              </a:rPr>
              <a:t>Teeter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32:emph · teeter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Teeter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32" presetClass="emph" nodeType="clickEffect">
                            <p:stCondLst>
                              <p:cond delay="0"/>
                            </p:stCondLst>
                            <p:childTnLst>
                              <p:animRot by="120000">
                                <p:cBhvr>
                                  <p:cTn id="6" dur="1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r</p:attrName>
                                  </p:attrNameLst>
                                </p:cBhvr>
                              </p:animRot>
                              <p:animRot by="-240000">
                                <p:cBhvr>
                                  <p:cTn id="7" dur="200" fill="hold">
                                    <p:stCondLst>
                                      <p:cond delay="20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r</p:attrName>
                                  </p:attrNameLst>
                                </p:cBhvr>
                              </p:animRot>
                              <p:animRot by="240000">
                                <p:cBhvr>
                                  <p:cTn id="8" dur="200" fill="hold">
                                    <p:stCondLst>
                                      <p:cond delay="40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r</p:attrName>
                                  </p:attrNameLst>
                                </p:cBhvr>
                              </p:animRot>
                              <p:animRot by="-240000">
                                <p:cBhvr>
                                  <p:cTn id="9" dur="200" fill="hold">
                                    <p:stCondLst>
                                      <p:cond delay="60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r</p:attrName>
                                  </p:attrNameLst>
                                </p:cBhvr>
                              </p:animRot>
                              <p:animRot by="120000">
                                <p:cBhvr>
                                  <p:cTn id="10" dur="200" fill="hold">
                                    <p:stCondLst>
                                      <p:cond delay="80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r</p:attrName>
                                  </p:attrNameLst>
                                </p:cBhvr>
                              </p:animRo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#062   EMPHASIS   (slide 65)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ED7D31"/>
                </a:solidFill>
              </a:rPr>
              <a:t>Blink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26:emph · blink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Blink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26" presetClass="emph" nodeType="clickEffect">
                            <p:stCondLst>
                              <p:cond delay="0"/>
                            </p:stCondLst>
                            <p:childTnLst>
                              <p:animEffect transition="out" filter="fade">
                                <p:cBhvr>
                                  <p:cTn id="6" dur="300" tmFilter="0, 0; .2, 1; .4, 0; .6, 1; .8, 0; 1, 1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#063   EMPHASIS   (slide 66)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ED7D31"/>
                </a:solidFill>
              </a:rPr>
              <a:t>Bold Reveal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11:emph · bold_reveal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Bold Reveal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11" presetClass="emph" nodeType="clickEffect">
                            <p:stCondLst>
                              <p:cond delay="0"/>
                            </p:stCondLst>
                            <p:childTnLst>
                              <p:animScale>
                                <p:cBhvr>
                                  <p:cTn id="6" dur="800" fill="hold" autoRev="1"/>
                                  <p:tgtEl>
                                    <p:spTgt spid="5"/>
                                  </p:tgtEl>
                                </p:cBhvr>
                                <p:by x="150000" y="150000"/>
                              </p:animScale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#064   EMPHASIS   (slide 67)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ED7D31"/>
                </a:solidFill>
              </a:rPr>
              <a:t>Wave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25:emph · wave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Wave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25" presetClass="emph" nodeType="clickEffect">
                            <p:stCondLst>
                              <p:cond delay="0"/>
                            </p:stCondLst>
                            <p:childTnLst>
                              <p:animRot by="36000">
                                <p:cBhvr>
                                  <p:cTn id="6" dur="3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r</p:attrName>
                                  </p:attrNameLst>
                                </p:cBhvr>
                              </p:animRot>
                              <p:animRot by="-36000">
                                <p:cBhvr>
                                  <p:cTn id="7" dur="300" fill="hold">
                                    <p:stCondLst>
                                      <p:cond delay="20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r</p:attrName>
                                  </p:attrNameLst>
                                </p:cBhvr>
                              </p:animRot>
                              <p:animRot by="36000">
                                <p:cBhvr>
                                  <p:cTn id="8" dur="300" fill="hold">
                                    <p:stCondLst>
                                      <p:cond delay="40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r</p:attrName>
                                  </p:attrNameLst>
                                </p:cBhvr>
                              </p:animRo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640080"/>
            <a:ext cx="114300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C00000"/>
                </a:solidFill>
              </a:rPr>
              <a:t>Exit animations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1645920"/>
            <a:ext cx="11430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A6A6A6"/>
                </a:solidFill>
              </a:rPr>
              <a:t>40 effects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23774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01  Blinds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8346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02  Checkerboard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32918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03  Diamond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3749039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04  Dissolve 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42062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05  Peek Out (To Bottom)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46634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06  Random Bars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51206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07  Strips (Up Right)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55778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08  Wheel (1 Spoke)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60350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09  Box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64922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10  Circle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69494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11  Disappear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74066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12  Fly Out (To Right)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78638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13  Plus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83210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14  Split (Vertical Out)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59" y="23774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15  Wedge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59" y="28346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16  Wipe (To Bottom)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59" y="32918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17  Contract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59" y="3749039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18  Fade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59" y="42062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19  Swivel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59" y="46634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20  Zoom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1959" y="51206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21  Basic Zoom (Out)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51959" y="55778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22  Center Revolve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59" y="60350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23  Float Down (Out)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59" y="64922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24  Float Up (Out)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51959" y="69494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25  Shrink &amp; 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51959" y="74066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26  Spinner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59" y="78638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27  Sink Down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59" y="83210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28  Collapse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3879" y="23774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29  Stretchy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79" y="28346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30  Basic Swivel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79" y="32918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31  Bounce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83879" y="3749039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32  Curve Down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83879" y="42062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33  Flip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83879" y="46634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34  Pinwheel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83879" y="51206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35  Whip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83879" y="55778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36  Boomerang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83879" y="60350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37  Credits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83879" y="64922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38  Drop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83879" y="69494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39  Float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83879" y="74066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40  Spiral Out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#065   EXIT   (slide 69)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C00000"/>
                </a:solidFill>
              </a:rPr>
              <a:t>Blinds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3:exit · blinds(vertical)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Blinds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3" presetClass="exit" nodeType="clickEffect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80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  <p:animEffect transition="out" filter="blinds(vertical)">
                                <p:cBhvr>
                                  <p:cTn id="7" dur="8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#066   EXIT   (slide 70)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C00000"/>
                </a:solidFill>
              </a:rPr>
              <a:t>Checkerboard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5:exit · checkerboard(across)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Checkerboard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5" presetClass="exit" nodeType="clickEffect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80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  <p:animEffect transition="out" filter="checkerboard(across)">
                                <p:cBhvr>
                                  <p:cTn id="7" dur="8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#067   EXIT   (slide 71)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C00000"/>
                </a:solidFill>
              </a:rPr>
              <a:t>Diamond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8:exit · diamond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Diamond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8" presetClass="exit" nodeType="clickEffect" presetSubtype="16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80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  <p:animEffect transition="out" filter="diamond">
                                <p:cBhvr>
                                  <p:cTn id="7" dur="8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#068   EXIT   (slide 72)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C00000"/>
                </a:solidFill>
              </a:rPr>
              <a:t>Dissolve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9:exit · dissolve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Dissolve Out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9" presetClass="exit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80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  <p:animEffect transition="out" filter="dissolve">
                                <p:cBhvr>
                                  <p:cTn id="7" dur="8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#069   EXIT   (slide 73)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C00000"/>
                </a:solidFill>
              </a:rPr>
              <a:t>Peek Out (To Bottom)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12:exit · fly_out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Peek Out (To Bottom)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12" presetClass="exit" nodeType="clickEffect" presetSubtype="4">
                            <p:stCondLst>
                              <p:cond delay="0"/>
                            </p:stCondLst>
                            <p:childTnLst>
                              <p:anim calcmode="lin" valueType="num">
                                <p:cBhvr additive="base">
                                  <p:cTn id="6" dur="8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-0.25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7" dur="8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"/>
                                    </p:val>
                                  </p:tav>
                                  <p:tav tm="100000">
                                    <p:val>
                                      <p:strVal val="#ppt_y+0.25"/>
                                    </p:val>
                                  </p:tav>
                                </p:tavLst>
                              </p:anim>
                              <p:set>
                                <p:cBhvr>
                                  <p:cTn id="8" dur="1" fill="hold">
                                    <p:stCondLst>
                                      <p:cond delay="80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#070   EXIT   (slide 74)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C00000"/>
                </a:solidFill>
              </a:rPr>
              <a:t>Random Bars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14:exit · randombars(horizontal)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Random Bars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14" presetClass="exit" nodeType="clickEffect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80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  <p:animEffect transition="out" filter="randombars(horizontal)">
                                <p:cBhvr>
                                  <p:cTn id="7" dur="8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#071   EXIT   (slide 75)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C00000"/>
                </a:solidFill>
              </a:rPr>
              <a:t>Strips (Up Right)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18:exit · strips(upright)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Strips (Up Right)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18" presetClass="exit" nodeType="clickEffect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80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  <p:animEffect transition="out" filter="strips(upright)">
                                <p:cBhvr>
                                  <p:cTn id="7" dur="8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#072   EXIT   (slide 76)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C00000"/>
                </a:solidFill>
              </a:rPr>
              <a:t>Wheel (1 Spoke)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21:exit · wheel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Wheel (1 Spoke)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21" presetClass="exit" nodeType="clickEffect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7" dur="8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#073   EXIT   (slide 77)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C00000"/>
                </a:solidFill>
              </a:rPr>
              <a:t>Box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4:exit · box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Box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4" presetClass="exit" nodeType="clickEffect" presetSubtype="16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80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  <p:animEffect transition="out" filter="box">
                                <p:cBhvr>
                                  <p:cTn id="7" dur="8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#074   EXIT   (slide 78)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C00000"/>
                </a:solidFill>
              </a:rPr>
              <a:t>Circle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6:exit · circle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Circle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6" presetClass="exit" nodeType="clickEffect" presetSubtype="16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80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  <p:animEffect transition="out" filter="circle">
                                <p:cBhvr>
                                  <p:cTn id="7" dur="8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#075   EXIT   (slide 79)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C00000"/>
                </a:solidFill>
              </a:rPr>
              <a:t>Disappear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1:exit · appear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Disappear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1" presetClass="exit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#076   EXIT   (slide 80)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C00000"/>
                </a:solidFill>
              </a:rPr>
              <a:t>Fly Out (To Right)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2:exit · fly_out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Fly Out (To Right)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2" presetClass="exit" nodeType="clickEffect" presetSubtype="2">
                            <p:stCondLst>
                              <p:cond delay="0"/>
                            </p:stCondLst>
                            <p:childTnLst>
                              <p:anim calcmode="lin" valueType="num">
                                <p:cBhvr additive="base">
                                  <p:cTn id="6" dur="8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+0.25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7" dur="8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"/>
                                    </p:val>
                                  </p:tav>
                                  <p:tav tm="100000">
                                    <p:val>
                                      <p:strVal val="#ppt_y0"/>
                                    </p:val>
                                  </p:tav>
                                </p:tavLst>
                              </p:anim>
                              <p:set>
                                <p:cBhvr>
                                  <p:cTn id="8" dur="1" fill="hold">
                                    <p:stCondLst>
                                      <p:cond delay="80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#077   EXIT   (slide 81)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C00000"/>
                </a:solidFill>
              </a:rPr>
              <a:t>Plus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13:exit · plus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Plus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13" presetClass="exit" nodeType="clickEffect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80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  <p:animEffect transition="out" filter="plus">
                                <p:cBhvr>
                                  <p:cTn id="7" dur="8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#078   EXIT   (slide 82)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C00000"/>
                </a:solidFill>
              </a:rPr>
              <a:t>Split (Vertical Out)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16:exit · barn(outVertical)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Split (Vertical Out)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16" presetClass="exit" nodeType="clickEffect" presetSubtype="2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80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  <p:animEffect transition="out" filter="barn(outVertical)">
                                <p:cBhvr>
                                  <p:cTn id="7" dur="8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#079   EXIT   (slide 83)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C00000"/>
                </a:solidFill>
              </a:rPr>
              <a:t>Wedge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20:exit · wedge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Wedge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20" presetClass="exit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80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  <p:animEffect transition="out" filter="wedge">
                                <p:cBhvr>
                                  <p:cTn id="7" dur="8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#080   EXIT   (slide 84)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C00000"/>
                </a:solidFill>
              </a:rPr>
              <a:t>Wipe (To Bottom)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22:exit · wipe(down)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Wipe (To Bottom)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22" presetClass="exit" nodeType="clickEffect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80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  <p:animEffect transition="out" filter="wipe(down)">
                                <p:cBhvr>
                                  <p:cTn id="7" dur="8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#081   EXIT   (slide 85)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C00000"/>
                </a:solidFill>
              </a:rPr>
              <a:t>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17:exit · contract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Contract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17" presetClass="exit" nodeType="clickEffect" presetSubtype="16">
                            <p:stCondLst>
                              <p:cond delay="0"/>
                            </p:stCondLst>
                            <p:childTnLst>
                              <p:animScale>
                                <p:cBhvr>
                                  <p:cTn id="6" dur="800" fill="hold"/>
                                  <p:tgtEl>
                                    <p:spTgt spid="5"/>
                                  </p:tgtEl>
                                </p:cBhvr>
                                <p:to x="0" y="0"/>
                              </p:animScale>
                              <p:set>
                                <p:cBhvr>
                                  <p:cTn id="7" dur="1" fill="hold">
                                    <p:stCondLst>
                                      <p:cond delay="80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#082   EXIT   (slide 86)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C00000"/>
                </a:solidFill>
              </a:rPr>
              <a:t>Fade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10:exit · fade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Fade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10" presetClass="exit" nodeType="clickEffect">
                            <p:stCondLst>
                              <p:cond delay="0"/>
                            </p:stCondLst>
                            <p:childTnLst>
                              <p:animEffect transition="out" filter="fade">
                                <p:cBhvr>
                                  <p:cTn id="6" dur="800"/>
                                  <p:tgtEl>
                                    <p:spTgt spid="5"/>
                                  </p:tgtEl>
                                </p:cBhvr>
                              </p:animEffect>
                              <p:set>
                                <p:cBhvr>
                                  <p:cTn id="7" dur="1" fill="hold">
                                    <p:stCondLst>
                                      <p:cond delay="80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#083   EXIT   (slide 87)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C00000"/>
                </a:solidFill>
              </a:rPr>
              <a:t>Swivel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19:exit · swivel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Swivel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19" presetClass="exit" nodeType="clickEffect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Scale>
                                <p:cBhvr>
                                  <p:cTn id="7" dur="800" fill="hold"/>
                                  <p:tgtEl>
                                    <p:spTgt spid="5"/>
                                  </p:tgtEl>
                                </p:cBhvr>
                                <p:from x="0" y="0"/>
                                <p:to x="100000" y="100000"/>
                              </p:animScale>
                              <p:animRot by="36000">
                                <p:cBhvr>
                                  <p:cTn id="8" dur="8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r</p:attrName>
                                  </p:attrNameLst>
                                </p:cBhvr>
                              </p:animRo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#084   EXIT   (slide 88)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C00000"/>
                </a:solidFill>
              </a:rPr>
              <a:t>Zoom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23:exit · zoom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Zoom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23" presetClass="exit" nodeType="clickEffect" presetSubtype="16">
                            <p:stCondLst>
                              <p:cond delay="0"/>
                            </p:stCondLst>
                            <p:childTnLst>
                              <p:animScale>
                                <p:cBhvr>
                                  <p:cTn id="6" dur="800" fill="hold"/>
                                  <p:tgtEl>
                                    <p:spTgt spid="5"/>
                                  </p:tgtEl>
                                </p:cBhvr>
                                <p:to x="0" y="0"/>
                              </p:animScale>
                              <p:animEffect transition="out" filter="fade">
                                <p:cBhvr>
                                  <p:cTn id="7" dur="800"/>
                                  <p:tgtEl>
                                    <p:spTgt spid="5"/>
                                  </p:tgtEl>
                                </p:cBhvr>
                              </p:animEffect>
                              <p:set>
                                <p:cBhvr>
                                  <p:cTn id="8" dur="1" fill="hold">
                                    <p:stCondLst>
                                      <p:cond delay="80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#085   EXIT   (slide 89)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C00000"/>
                </a:solidFill>
              </a:rPr>
              <a:t>Basic Zoom (Out)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53:exit · zoom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Basic Zoom (Out)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53" presetClass="exit" nodeType="clickEffect" presetSubtype="16">
                            <p:stCondLst>
                              <p:cond delay="0"/>
                            </p:stCondLst>
                            <p:childTnLst>
                              <p:animScale>
                                <p:cBhvr>
                                  <p:cTn id="6" dur="800" fill="hold"/>
                                  <p:tgtEl>
                                    <p:spTgt spid="5"/>
                                  </p:tgtEl>
                                </p:cBhvr>
                                <p:to x="0" y="0"/>
                              </p:animScale>
                              <p:animEffect transition="out" filter="fade">
                                <p:cBhvr>
                                  <p:cTn id="7" dur="800"/>
                                  <p:tgtEl>
                                    <p:spTgt spid="5"/>
                                  </p:tgtEl>
                                </p:cBhvr>
                              </p:animEffect>
                              <p:set>
                                <p:cBhvr>
                                  <p:cTn id="8" dur="1" fill="hold">
                                    <p:stCondLst>
                                      <p:cond delay="80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#086   EXIT   (slide 90)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C00000"/>
                </a:solidFill>
              </a:rPr>
              <a:t>Center Revolve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47:exit · center_revolve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Center Revolve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47" presetClass="exit" nodeType="clickEffect">
                            <p:stCondLst>
                              <p:cond delay="0"/>
                            </p:stCondLst>
                            <p:childTnLst>
                              <p:animRot by="360000">
                                <p:cBhvr>
                                  <p:cTn id="6" dur="8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r</p:attrName>
                                  </p:attrNameLst>
                                </p:cBhvr>
                              </p:animRot>
                              <p:animScale>
                                <p:cBhvr>
                                  <p:cTn id="7" dur="800" fill="hold"/>
                                  <p:tgtEl>
                                    <p:spTgt spid="5"/>
                                  </p:tgtEl>
                                </p:cBhvr>
                                <p:to x="0" y="0"/>
                              </p:animScale>
                              <p:set>
                                <p:cBhvr>
                                  <p:cTn id="8" dur="1" fill="hold">
                                    <p:stCondLst>
                                      <p:cond delay="80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#087   EXIT   (slide 91)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C00000"/>
                </a:solidFill>
              </a:rPr>
              <a:t>Float Down (Out)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52:exit · float_out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Float Down (Out)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52" presetClass="exit" nodeType="clickEffect">
                            <p:stCondLst>
                              <p:cond delay="0"/>
                            </p:stCondLst>
                            <p:childTnLst>
                              <p:animEffect transition="out" filter="fade">
                                <p:cBhvr>
                                  <p:cTn id="6" dur="480">
                                    <p:stCondLst>
                                      <p:cond delay="32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7" dur="8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"/>
                                    </p:val>
                                  </p:tav>
                                  <p:tav tm="100000">
                                    <p:val>
                                      <p:strVal val="#ppt_y+0.06"/>
                                    </p:val>
                                  </p:tav>
                                </p:tavLst>
                              </p:anim>
                              <p:set>
                                <p:cBhvr>
                                  <p:cTn id="8" dur="1" fill="hold">
                                    <p:stCondLst>
                                      <p:cond delay="80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#088   EXIT   (slide 92)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C00000"/>
                </a:solidFill>
              </a:rPr>
              <a:t>Float Up (Out)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53:exit · float_out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Float Up (Out)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53" presetClass="exit" nodeType="clickEffect">
                            <p:stCondLst>
                              <p:cond delay="0"/>
                            </p:stCondLst>
                            <p:childTnLst>
                              <p:animEffect transition="out" filter="fade">
                                <p:cBhvr>
                                  <p:cTn id="6" dur="480">
                                    <p:stCondLst>
                                      <p:cond delay="32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7" dur="8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"/>
                                    </p:val>
                                  </p:tav>
                                  <p:tav tm="100000">
                                    <p:val>
                                      <p:strVal val="#ppt_y+0.06"/>
                                    </p:val>
                                  </p:tav>
                                </p:tavLst>
                              </p:anim>
                              <p:set>
                                <p:cBhvr>
                                  <p:cTn id="8" dur="1" fill="hold">
                                    <p:stCondLst>
                                      <p:cond delay="80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#089   EXIT   (slide 93)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C00000"/>
                </a:solidFill>
              </a:rPr>
              <a:t>Shrink &amp; Turn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44:exit · shrink_turn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Shrink &amp; Turn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44" presetClass="exit" nodeType="clickEffect">
                            <p:stCondLst>
                              <p:cond delay="0"/>
                            </p:stCondLst>
                            <p:childTnLst>
                              <p:animScale>
                                <p:cBhvr>
                                  <p:cTn id="6" dur="800" fill="hold"/>
                                  <p:tgtEl>
                                    <p:spTgt spid="5"/>
                                  </p:tgtEl>
                                </p:cBhvr>
                                <p:to x="0" y="0"/>
                              </p:animScale>
                              <p:animRot by="180000">
                                <p:cBhvr>
                                  <p:cTn id="7" dur="8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r</p:attrName>
                                  </p:attrNameLst>
                                </p:cBhvr>
                              </p:animRot>
                              <p:set>
                                <p:cBhvr>
                                  <p:cTn id="8" dur="1" fill="hold">
                                    <p:stCondLst>
                                      <p:cond delay="80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#090   EXIT   (slide 94)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C00000"/>
                </a:solidFill>
              </a:rPr>
              <a:t>Spinner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51:exit · spinner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Spinner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51" presetClass="exit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Rot by="17200000">
                                <p:cBhvr>
                                  <p:cTn id="7" dur="8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r</p:attrName>
                                  </p:attrNameLst>
                                </p:cBhvr>
                              </p:animRo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#091   EXIT   (slide 95)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C00000"/>
                </a:solidFill>
              </a:rPr>
              <a:t>Sink 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43:exit · sink_down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Sink Down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43" presetClass="exit" nodeType="clickEffect">
                            <p:stCondLst>
                              <p:cond delay="0"/>
                            </p:stCondLst>
                            <p:childTnLst>
                              <p:anim calcmode="lin" valueType="num">
                                <p:cBhvr additive="base">
                                  <p:cTn id="6" dur="8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"/>
                                    </p:val>
                                  </p:tav>
                                  <p:tav tm="100000">
                                    <p:val>
                                      <p:strVal val="#ppt_y+0.2"/>
                                    </p:val>
                                  </p:tav>
                                </p:tavLst>
                              </p:anim>
                              <p:set>
                                <p:cBhvr>
                                  <p:cTn id="7" dur="1" fill="hold">
                                    <p:stCondLst>
                                      <p:cond delay="80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#092   EXIT   (slide 96)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C00000"/>
                </a:solidFill>
              </a:rPr>
              <a:t>Collapse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55:exit · collapse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Collapse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55" presetClass="exit" nodeType="clickEffect">
                            <p:stCondLst>
                              <p:cond delay="0"/>
                            </p:stCondLst>
                            <p:childTnLst>
                              <p:animScale>
                                <p:cBhvr>
                                  <p:cTn id="6" dur="800" fill="hold"/>
                                  <p:tgtEl>
                                    <p:spTgt spid="5"/>
                                  </p:tgtEl>
                                </p:cBhvr>
                                <p:from x="None" y="100000"/>
                                <p:to x="None" y="0"/>
                              </p:animScale>
                              <p:set>
                                <p:cBhvr>
                                  <p:cTn id="7" dur="1" fill="hold">
                                    <p:stCondLst>
                                      <p:cond delay="80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#093   EXIT   (slide 97)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C00000"/>
                </a:solidFill>
              </a:rPr>
              <a:t>Stretchy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56:exit · stretchy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Stretchy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56" presetClass="exit" nodeType="clickEffect">
                            <p:stCondLst>
                              <p:cond delay="0"/>
                            </p:stCondLst>
                            <p:childTnLst>
                              <p:animScale>
                                <p:cBhvr>
                                  <p:cTn id="6" dur="800" fill="hold"/>
                                  <p:tgtEl>
                                    <p:spTgt spid="5"/>
                                  </p:tgtEl>
                                </p:cBhvr>
                                <p:from x="100000" y="None"/>
                                <p:to x="0" y="None"/>
                              </p:animScale>
                              <p:set>
                                <p:cBhvr>
                                  <p:cTn id="7" dur="1" fill="hold">
                                    <p:stCondLst>
                                      <p:cond delay="80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#094   EXIT   (slide 98)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C00000"/>
                </a:solidFill>
              </a:rPr>
              <a:t>Basic Swivel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54:exit · swivel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Basic Swivel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54" presetClass="exit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Scale>
                                <p:cBhvr>
                                  <p:cTn id="7" dur="800" fill="hold"/>
                                  <p:tgtEl>
                                    <p:spTgt spid="5"/>
                                  </p:tgtEl>
                                </p:cBhvr>
                                <p:from x="0" y="0"/>
                                <p:to x="100000" y="100000"/>
                              </p:animScale>
                              <p:animRot by="36000">
                                <p:cBhvr>
                                  <p:cTn id="8" dur="8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r</p:attrName>
                                  </p:attrNameLst>
                                </p:cBhvr>
                              </p:animRo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#095   EXIT   (slide 99)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C00000"/>
                </a:solidFill>
              </a:rPr>
              <a:t>Bounce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33:exit · bounce_out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Bounce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33" presetClass="exit" nodeType="clickEffect">
                            <p:stCondLst>
                              <p:cond delay="0"/>
                            </p:stCondLst>
                            <p:childTnLst>
                              <p:anim calcmode="lin" valueType="num">
                                <p:cBhvr additive="base">
                                  <p:cTn id="6" dur="8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"/>
                                    </p:val>
                                  </p:tav>
                                  <p:tav tm="100000">
                                    <p:val>
                                      <p:strVal val="#ppt_y+0.25"/>
                                    </p:val>
                                  </p:tav>
                                </p:tavLst>
                              </p:anim>
                              <p:animEffect transition="out" filter="fade">
                                <p:cBhvr>
                                  <p:cTn id="7" dur="800"/>
                                  <p:tgtEl>
                                    <p:spTgt spid="5"/>
                                  </p:tgtEl>
                                </p:cBhvr>
                              </p:animEffect>
                              <p:set>
                                <p:cBhvr>
                                  <p:cTn id="8" dur="1" fill="hold">
                                    <p:stCondLst>
                                      <p:cond delay="80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#096   EXIT   (slide 100)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C00000"/>
                </a:solidFill>
              </a:rPr>
              <a:t>Curve 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34:exit · curve_down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Curve Down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34" presetClass="exit" nodeType="clickEffect">
                            <p:stCondLst>
                              <p:cond delay="0"/>
                            </p:stCondLst>
                            <p:childTnLst>
                              <p:anim calcmode="lin" valueType="num">
                                <p:cBhvr additive="base">
                                  <p:cTn id="6" dur="8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"/>
                                    </p:val>
                                  </p:tav>
                                  <p:tav tm="100000">
                                    <p:val>
                                      <p:strVal val="#ppt_y+0.25"/>
                                    </p:val>
                                  </p:tav>
                                </p:tavLst>
                              </p:anim>
                              <p:animEffect transition="out" filter="fade">
                                <p:cBhvr>
                                  <p:cTn id="7" dur="800"/>
                                  <p:tgtEl>
                                    <p:spTgt spid="5"/>
                                  </p:tgtEl>
                                </p:cBhvr>
                              </p:animEffect>
                              <p:set>
                                <p:cBhvr>
                                  <p:cTn id="8" dur="1" fill="hold">
                                    <p:stCondLst>
                                      <p:cond delay="80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#097   EXIT   (slide 101)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C00000"/>
                </a:solidFill>
              </a:rPr>
              <a:t>Flip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35:exit · flip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Flip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35" presetClass="exit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Scale>
                                <p:cBhvr>
                                  <p:cTn id="7" dur="800" fill="hold"/>
                                  <p:tgtEl>
                                    <p:spTgt spid="5"/>
                                  </p:tgtEl>
                                </p:cBhvr>
                                <p:from x="100000" y="0"/>
                                <p:to x="100000" y="100000"/>
                              </p:animScale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#098   EXIT   (slide 102)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C00000"/>
                </a:solidFill>
              </a:rPr>
              <a:t>Pinwheel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39:exit · spinner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Pinwheel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39" presetClass="exit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Rot by="17200000">
                                <p:cBhvr>
                                  <p:cTn id="7" dur="8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r</p:attrName>
                                  </p:attrNameLst>
                                </p:cBhvr>
                              </p:animRo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#099   EXIT   (slide 103)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C00000"/>
                </a:solidFill>
              </a:rPr>
              <a:t>Whip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45:exit · whip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Whip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45" presetClass="exit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Rot by="360000">
                                <p:cBhvr>
                                  <p:cTn id="7" dur="48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r</p:attrName>
                                  </p:attrNameLst>
                                </p:cBhvr>
                              </p:animRot>
                              <p:anim calcmode="lin" valueType="num">
                                <p:cBhvr additive="base">
                                  <p:cTn id="8" dur="8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-0.2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#100   EXIT   (slide 104)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C00000"/>
                </a:solidFill>
              </a:rPr>
              <a:t>Boomerang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32:exit · boomerang_out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Boomerang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32" presetClass="exit" nodeType="clickEffect">
                            <p:stCondLst>
                              <p:cond delay="0"/>
                            </p:stCondLst>
                            <p:childTnLst>
                              <p:anim calcmode="lin" valueType="num">
                                <p:cBhvr additive="base">
                                  <p:cTn id="6" dur="8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+0.3"/>
                                    </p:val>
                                  </p:tav>
                                </p:tavLst>
                              </p:anim>
                              <p:animRot by="-144000">
                                <p:cBhvr>
                                  <p:cTn id="7" dur="8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r</p:attrName>
                                  </p:attrNameLst>
                                </p:cBhvr>
                              </p:animRot>
                              <p:set>
                                <p:cBhvr>
                                  <p:cTn id="8" dur="1" fill="hold">
                                    <p:stCondLst>
                                      <p:cond delay="80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#101   EXIT   (slide 105)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C00000"/>
                </a:solidFill>
              </a:rPr>
              <a:t>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34:exit · credits_out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Credits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34" presetClass="exit" nodeType="clickEffect">
                            <p:stCondLst>
                              <p:cond delay="0"/>
                            </p:stCondLst>
                            <p:childTnLst>
                              <p:anim calcmode="lin" valueType="num">
                                <p:cBhvr additive="base">
                                  <p:cTn id="6" dur="8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"/>
                                    </p:val>
                                  </p:tav>
                                  <p:tav tm="100000">
                                    <p:val>
                                      <p:strVal val="#ppt_y+0.1"/>
                                    </p:val>
                                  </p:tav>
                                </p:tavLst>
                              </p:anim>
                              <p:animEffect transition="out" filter="fade">
                                <p:cBhvr>
                                  <p:cTn id="7" dur="800"/>
                                  <p:tgtEl>
                                    <p:spTgt spid="5"/>
                                  </p:tgtEl>
                                </p:cBhvr>
                              </p:animEffect>
                              <p:set>
                                <p:cBhvr>
                                  <p:cTn id="8" dur="1" fill="hold">
                                    <p:stCondLst>
                                      <p:cond delay="80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#102   EXIT   (slide 106)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C00000"/>
                </a:solidFill>
              </a:rPr>
              <a:t>Drop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36:exit · drop_out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Drop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36" presetClass="exit" nodeType="clickEffect">
                            <p:stCondLst>
                              <p:cond delay="0"/>
                            </p:stCondLst>
                            <p:childTnLst>
                              <p:anim calcmode="lin" valueType="num">
                                <p:cBhvr additive="base">
                                  <p:cTn id="6" dur="8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"/>
                                    </p:val>
                                  </p:tav>
                                  <p:tav tm="100000">
                                    <p:val>
                                      <p:strVal val="#ppt_y+0.3"/>
                                    </p:val>
                                  </p:tav>
                                </p:tavLst>
                              </p:anim>
                              <p:set>
                                <p:cBhvr>
                                  <p:cTn id="7" dur="1" fill="hold">
                                    <p:stCondLst>
                                      <p:cond delay="80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#103   EXIT   (slide 107)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C00000"/>
                </a:solidFill>
              </a:rPr>
              <a:t>Float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30:exit · float_out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Float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30" presetClass="exit" nodeType="clickEffect">
                            <p:stCondLst>
                              <p:cond delay="0"/>
                            </p:stCondLst>
                            <p:childTnLst>
                              <p:animEffect transition="out" filter="fade">
                                <p:cBhvr>
                                  <p:cTn id="6" dur="480">
                                    <p:stCondLst>
                                      <p:cond delay="32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7" dur="8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"/>
                                    </p:val>
                                  </p:tav>
                                  <p:tav tm="100000">
                                    <p:val>
                                      <p:strVal val="#ppt_y+0.06"/>
                                    </p:val>
                                  </p:tav>
                                </p:tavLst>
                              </p:anim>
                              <p:set>
                                <p:cBhvr>
                                  <p:cTn id="8" dur="1" fill="hold">
                                    <p:stCondLst>
                                      <p:cond delay="80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#104   EXIT   (slide 108)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C00000"/>
                </a:solidFill>
              </a:rPr>
              <a:t>Spiral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15:exit · spiral_out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Spiral Out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15" presetClass="exit" nodeType="clickEffect">
                            <p:stCondLst>
                              <p:cond delay="0"/>
                            </p:stCondLst>
                            <p:childTnLst>
                              <p:animScale>
                                <p:cBhvr>
                                  <p:cTn id="6" dur="800" fill="hold"/>
                                  <p:tgtEl>
                                    <p:spTgt spid="5"/>
                                  </p:tgtEl>
                                </p:cBhvr>
                                <p:to x="0" y="0"/>
                              </p:animScale>
                              <p:animRot by="-720000">
                                <p:cBhvr>
                                  <p:cTn id="7" dur="8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r</p:attrName>
                                  </p:attrNameLst>
                                </p:cBhvr>
                              </p:animRot>
                              <p:set>
                                <p:cBhvr>
                                  <p:cTn id="8" dur="1" fill="hold">
                                    <p:stCondLst>
                                      <p:cond delay="80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640080"/>
            <a:ext cx="114300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4472C4"/>
                </a:solidFill>
              </a:rPr>
              <a:t>Motion Paths · Basic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1645920"/>
            <a:ext cx="11430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A6A6A6"/>
                </a:solidFill>
              </a:rPr>
              <a:t>18 effects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23774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01  4 Point Star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8346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02  5 Point Star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32918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03  Hexagon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3749039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04  Octagon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42062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05  6 Point Star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46634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06  8 Point Star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59" y="23774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07  Parallelogram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59" y="28346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08  Pentagon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59" y="32918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09  Circle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59" y="3749039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10  Crescent Moon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59" y="42062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11  Right Triangle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59" y="46634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12  Square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23774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13  Diamond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28346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14  Equal Triangle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32918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15  Teardrop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3749039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16  Trapezoid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42062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17  Football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46634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18  Heart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#105   MOTION PATH   (slide 110)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4472C4"/>
                </a:solidFill>
              </a:rPr>
              <a:t>4 Point Star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0:path · mpath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 Point Star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0" presetClass="path" nodeType="clickEffect">
                            <p:stCondLst>
                              <p:cond delay="0"/>
                            </p:stCondLst>
                            <p:childTnLst>
                              <p:animMotion origin="layout" path="M 0 0 L 0 -0.24 L 0.0707 -0.0707 L 0.24 0 L 0.0707 0.0707 L 0 0.24 L -0.0707 0.0707 L -0.24 0 L -0.0707 -0.0707 E" pathEditMode="relative" ptsTypes="">
                                <p:cBhvr>
                                  <p:cTn id="6" dur="800" fill="hold"/>
                                  <p:tgtEl>
                                    <p:spTgt spid="5"/>
                                  </p:tgtEl>
                                  <p:attrNameLst>
                                    <p:attrName>ppt_x</p:attrName>
                                    <p:attrName>ppt_y</p:attrName>
                                  </p:attrNameLst>
                                </p:cBhvr>
                              </p:animMotion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#106   MOTION PATH   (slide 111)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4472C4"/>
                </a:solidFill>
              </a:rPr>
              <a:t>5 Point Star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0:path · mpath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 Point Star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0" presetClass="path" nodeType="clickEffect">
                            <p:stCondLst>
                              <p:cond delay="0"/>
                            </p:stCondLst>
                            <p:childTnLst>
                              <p:animMotion origin="layout" path="M 0 0 L 0 -0.24 L 0.0588 -0.0809 L 0.2283 -0.0742 L 0.0951 0.0309 L 0.1411 0.1942 L 0 0.1 L -0.1411 0.1942 L -0.0951 0.0309 L -0.2283 -0.0742 L -0.0588 -0.0809 E" pathEditMode="relative" ptsTypes="">
                                <p:cBhvr>
                                  <p:cTn id="6" dur="800" fill="hold"/>
                                  <p:tgtEl>
                                    <p:spTgt spid="5"/>
                                  </p:tgtEl>
                                  <p:attrNameLst>
                                    <p:attrName>ppt_x</p:attrName>
                                    <p:attrName>ppt_y</p:attrName>
                                  </p:attrNameLst>
                                </p:cBhvr>
                              </p:animMotion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#107   MOTION PATH   (slide 112)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4472C4"/>
                </a:solidFill>
              </a:rPr>
              <a:t>Hexagon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0:path · mpath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Hexagon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0" presetClass="path" nodeType="clickEffect">
                            <p:stCondLst>
                              <p:cond delay="0"/>
                            </p:stCondLst>
                            <p:childTnLst>
                              <p:animMotion origin="layout" path="M 0 0 L 0.22 0 L 0.11 0.1905 L -0.11 0.1905 L -0.22 0 L -0.11 -0.1905 L 0.11 -0.1905 E" pathEditMode="relative" ptsTypes="">
                                <p:cBhvr>
                                  <p:cTn id="6" dur="800" fill="hold"/>
                                  <p:tgtEl>
                                    <p:spTgt spid="5"/>
                                  </p:tgtEl>
                                  <p:attrNameLst>
                                    <p:attrName>ppt_x</p:attrName>
                                    <p:attrName>ppt_y</p:attrName>
                                  </p:attrNameLst>
                                </p:cBhvr>
                              </p:animMotion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#108   MOTION PATH   (slide 113)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4472C4"/>
                </a:solidFill>
              </a:rPr>
              <a:t>Octagon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0:path · mpath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Octagon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0" presetClass="path" nodeType="clickEffect">
                            <p:stCondLst>
                              <p:cond delay="0"/>
                            </p:stCondLst>
                            <p:childTnLst>
                              <p:animMotion origin="layout" path="M 0 0 L 0.22 0 L 0.1556 0.1556 L 0 0.22 L -0.1556 0.1556 L -0.22 0 L -0.1556 -0.1556 L 0 -0.22 L 0.1556 -0.1556 E" pathEditMode="relative" ptsTypes="">
                                <p:cBhvr>
                                  <p:cTn id="6" dur="800" fill="hold"/>
                                  <p:tgtEl>
                                    <p:spTgt spid="5"/>
                                  </p:tgtEl>
                                  <p:attrNameLst>
                                    <p:attrName>ppt_x</p:attrName>
                                    <p:attrName>ppt_y</p:attrName>
                                  </p:attrNameLst>
                                </p:cBhvr>
                              </p:animMotion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#109   MOTION PATH   (slide 114)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4472C4"/>
                </a:solidFill>
              </a:rPr>
              <a:t>6 Point Star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0:path · mpath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6 Point Star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0" presetClass="path" nodeType="clickEffect">
                            <p:stCondLst>
                              <p:cond delay="0"/>
                            </p:stCondLst>
                            <p:childTnLst>
                              <p:animMotion origin="layout" path="M 0 0 L 0 -0.24 L 0.05 -0.0866 L 0.2078 -0.12 L 0.1 0 L 0.2078 0.12 L 0.05 0.0866 L 0 0.24 L -0.05 0.0866 L -0.2078 0.12 L -0.1 0 L -0.2078 -0.12 L -0.05 -0.0866 E" pathEditMode="relative" ptsTypes="">
                                <p:cBhvr>
                                  <p:cTn id="6" dur="800" fill="hold"/>
                                  <p:tgtEl>
                                    <p:spTgt spid="5"/>
                                  </p:tgtEl>
                                  <p:attrNameLst>
                                    <p:attrName>ppt_x</p:attrName>
                                    <p:attrName>ppt_y</p:attrName>
                                  </p:attrNameLst>
                                </p:cBhvr>
                              </p:animMotion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#110   MOTION PATH   (slide 115)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4472C4"/>
                </a:solidFill>
              </a:rPr>
              <a:t>8 Point Star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0:path · mpath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8 Point Star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0" presetClass="path" nodeType="clickEffect">
                            <p:stCondLst>
                              <p:cond delay="0"/>
                            </p:stCondLst>
                            <p:childTnLst>
                              <p:animMotion origin="layout" path="M 0 0 L 0 -0.24 L 0.0383 -0.0924 L 0.1697 -0.1697 L 0.0924 -0.0383 L 0.24 0 L 0.0924 0.0383 L 0.1697 0.1697 L 0.0383 0.0924 L 0 0.24 L -0.0383 0.0924 L -0.1697 0.1697 L -0.0924 0.0383 L -0.24 0 L -0.0924 -0.0383 L -0.1697 -0.1697 L -0.0383 -0.0924 E" pathEditMode="relative" ptsTypes="">
                                <p:cBhvr>
                                  <p:cTn id="6" dur="800" fill="hold"/>
                                  <p:tgtEl>
                                    <p:spTgt spid="5"/>
                                  </p:tgtEl>
                                  <p:attrNameLst>
                                    <p:attrName>ppt_x</p:attrName>
                                    <p:attrName>ppt_y</p:attrName>
                                  </p:attrNameLst>
                                </p:cBhvr>
                              </p:animMotion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#111   MOTION PATH   (slide 116)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4472C4"/>
                </a:solidFill>
              </a:rPr>
              <a:t>Parallelogram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0:path · mpath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Parallelogram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0" presetClass="path" nodeType="clickEffect">
                            <p:stCondLst>
                              <p:cond delay="0"/>
                            </p:stCondLst>
                            <p:childTnLst>
                              <p:animMotion origin="layout" path="M 0 0 L -0.12 0.12 L 0.12 0.12 L 0.24 0 E" pathEditMode="relative" ptsTypes="">
                                <p:cBhvr>
                                  <p:cTn id="6" dur="800" fill="hold"/>
                                  <p:tgtEl>
                                    <p:spTgt spid="5"/>
                                  </p:tgtEl>
                                  <p:attrNameLst>
                                    <p:attrName>ppt_x</p:attrName>
                                    <p:attrName>ppt_y</p:attrName>
                                  </p:attrNameLst>
                                </p:cBhvr>
                              </p:animMotion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#112   MOTION PATH   (slide 117)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4472C4"/>
                </a:solidFill>
              </a:rPr>
              <a:t>Pentagon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0:path · mpath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Pentagon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0" presetClass="path" nodeType="clickEffect">
                            <p:stCondLst>
                              <p:cond delay="0"/>
                            </p:stCondLst>
                            <p:childTnLst>
                              <p:animMotion origin="layout" path="M 0 0 L 0.22 0 L 0.068 0.2092 L -0.178 0.1293 L -0.178 -0.1293 L 0.068 -0.2092 E" pathEditMode="relative" ptsTypes="">
                                <p:cBhvr>
                                  <p:cTn id="6" dur="800" fill="hold"/>
                                  <p:tgtEl>
                                    <p:spTgt spid="5"/>
                                  </p:tgtEl>
                                  <p:attrNameLst>
                                    <p:attrName>ppt_x</p:attrName>
                                    <p:attrName>ppt_y</p:attrName>
                                  </p:attrNameLst>
                                </p:cBhvr>
                              </p:animMotion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#113   MOTION PATH   (slide 118)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4472C4"/>
                </a:solidFill>
              </a:rPr>
              <a:t>Circle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0:path · mpath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Circle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0" presetClass="path" nodeType="clickEffect">
                            <p:stCondLst>
                              <p:cond delay="0"/>
                            </p:stCondLst>
                            <p:childTnLst>
                              <p:animMotion origin="layout" path="M 0 0 C 0.121 -0.220 0.220 -0.121 0.220 0 C 0.220 0.121 0.121 0.220 0 0.220 C -0.121 0.220 -0.220 0.121 -0.220 0 C -0.220 -0.121 -0.121 -0.220 0 -0.220 E" pathEditMode="relative" ptsTypes="">
                                <p:cBhvr>
                                  <p:cTn id="6" dur="800" fill="hold"/>
                                  <p:tgtEl>
                                    <p:spTgt spid="5"/>
                                  </p:tgtEl>
                                  <p:attrNameLst>
                                    <p:attrName>ppt_x</p:attrName>
                                    <p:attrName>ppt_y</p:attrName>
                                  </p:attrNameLst>
                                </p:cBhvr>
                              </p:animMotion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#114   MOTION PATH   (slide 119)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4472C4"/>
                </a:solidFill>
              </a:rPr>
              <a:t>Crescent Moon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0:path · mpath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Crescent Moon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0" presetClass="path" nodeType="clickEffect">
                            <p:stCondLst>
                              <p:cond delay="0"/>
                            </p:stCondLst>
                            <p:childTnLst>
                              <p:animMotion origin="layout" path="M 0 0 C 0.08 0.08 0.16 0.05 0.18 -0.05 C 0.12 0.0 0.06 0.0 0 0 E" pathEditMode="relative" ptsTypes="">
                                <p:cBhvr>
                                  <p:cTn id="6" dur="800" fill="hold"/>
                                  <p:tgtEl>
                                    <p:spTgt spid="5"/>
                                  </p:tgtEl>
                                  <p:attrNameLst>
                                    <p:attrName>ppt_x</p:attrName>
                                    <p:attrName>ppt_y</p:attrName>
                                  </p:attrNameLst>
                                </p:cBhvr>
                              </p:animMotion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#115   MOTION PATH   (slide 120)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4472C4"/>
                </a:solidFill>
              </a:rPr>
              <a:t>Right Triangle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0:path · mpath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Right Triangle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0" presetClass="path" nodeType="clickEffect">
                            <p:stCondLst>
                              <p:cond delay="0"/>
                            </p:stCondLst>
                            <p:childTnLst>
                              <p:animMotion origin="layout" path="M 0 0 L 0.24 0 L 0 0.2 E" pathEditMode="relative" ptsTypes="">
                                <p:cBhvr>
                                  <p:cTn id="6" dur="800" fill="hold"/>
                                  <p:tgtEl>
                                    <p:spTgt spid="5"/>
                                  </p:tgtEl>
                                  <p:attrNameLst>
                                    <p:attrName>ppt_x</p:attrName>
                                    <p:attrName>ppt_y</p:attrName>
                                  </p:attrNameLst>
                                </p:cBhvr>
                              </p:animMotion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#116   MOTION PATH   (slide 121)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4472C4"/>
                </a:solidFill>
              </a:rPr>
              <a:t>Square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0:path · mpath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Square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0" presetClass="path" nodeType="clickEffect">
                            <p:stCondLst>
                              <p:cond delay="0"/>
                            </p:stCondLst>
                            <p:childTnLst>
                              <p:animMotion origin="layout" path="M 0 0 L 0.2 0 L 0.2 0.2 L 0 0.2 E" pathEditMode="relative" ptsTypes="">
                                <p:cBhvr>
                                  <p:cTn id="6" dur="800" fill="hold"/>
                                  <p:tgtEl>
                                    <p:spTgt spid="5"/>
                                  </p:tgtEl>
                                  <p:attrNameLst>
                                    <p:attrName>ppt_x</p:attrName>
                                    <p:attrName>ppt_y</p:attrName>
                                  </p:attrNameLst>
                                </p:cBhvr>
                              </p:animMotion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#117   MOTION PATH   (slide 122)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4472C4"/>
                </a:solidFill>
              </a:rPr>
              <a:t>Diamond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0:path · mpath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Diamond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0" presetClass="path" nodeType="clickEffect">
                            <p:stCondLst>
                              <p:cond delay="0"/>
                            </p:stCondLst>
                            <p:childTnLst>
                              <p:animMotion origin="layout" path="M 0 0 L 0.14 -0.14 L 0.28 0 L 0.14 0.14 E" pathEditMode="relative" ptsTypes="">
                                <p:cBhvr>
                                  <p:cTn id="6" dur="800" fill="hold"/>
                                  <p:tgtEl>
                                    <p:spTgt spid="5"/>
                                  </p:tgtEl>
                                  <p:attrNameLst>
                                    <p:attrName>ppt_x</p:attrName>
                                    <p:attrName>ppt_y</p:attrName>
                                  </p:attrNameLst>
                                </p:cBhvr>
                              </p:animMotion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#118   MOTION PATH   (slide 123)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4472C4"/>
                </a:solidFill>
              </a:rPr>
              <a:t>Equal Triangle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0:path · mpath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Equal Triangle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0" presetClass="path" nodeType="clickEffect">
                            <p:stCondLst>
                              <p:cond delay="0"/>
                            </p:stCondLst>
                            <p:childTnLst>
                              <p:animMotion origin="layout" path="M 0 0 L 0.2 0 L 0.1 0.17 E" pathEditMode="relative" ptsTypes="">
                                <p:cBhvr>
                                  <p:cTn id="6" dur="800" fill="hold"/>
                                  <p:tgtEl>
                                    <p:spTgt spid="5"/>
                                  </p:tgtEl>
                                  <p:attrNameLst>
                                    <p:attrName>ppt_x</p:attrName>
                                    <p:attrName>ppt_y</p:attrName>
                                  </p:attrNameLst>
                                </p:cBhvr>
                              </p:animMotion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#119   MOTION PATH   (slide 124)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4472C4"/>
                </a:solidFill>
              </a:rPr>
              <a:t>Teardrop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0:path · mpath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Teardrop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0" presetClass="path" nodeType="clickEffect">
                            <p:stCondLst>
                              <p:cond delay="0"/>
                            </p:stCondLst>
                            <p:childTnLst>
                              <p:animMotion origin="layout" path="M 0 -0.18 C 0.16 0.02 0.12 0.1 0.06 0.11 C 0.03 0.12 0.01 0.11 0 0.1 C -0.01 0.11 -0.03 0.12 -0.06 0.11 C -0.12 0.1 -0.16 0.02 0 -0.18 E" pathEditMode="relative" ptsTypes="">
                                <p:cBhvr>
                                  <p:cTn id="6" dur="800" fill="hold"/>
                                  <p:tgtEl>
                                    <p:spTgt spid="5"/>
                                  </p:tgtEl>
                                  <p:attrNameLst>
                                    <p:attrName>ppt_x</p:attrName>
                                    <p:attrName>ppt_y</p:attrName>
                                  </p:attrNameLst>
                                </p:cBhvr>
                              </p:animMotion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#120   MOTION PATH   (slide 125)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4472C4"/>
                </a:solidFill>
              </a:rPr>
              <a:t>Trapezoid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0:path · mpath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Trapezoid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0" presetClass="path" nodeType="clickEffect">
                            <p:stCondLst>
                              <p:cond delay="0"/>
                            </p:stCondLst>
                            <p:childTnLst>
                              <p:animMotion origin="layout" path="M 0 0 L -0.06 0.1 L 0.1 0.1 L 0.16 0 E" pathEditMode="relative" ptsTypes="">
                                <p:cBhvr>
                                  <p:cTn id="6" dur="800" fill="hold"/>
                                  <p:tgtEl>
                                    <p:spTgt spid="5"/>
                                  </p:tgtEl>
                                  <p:attrNameLst>
                                    <p:attrName>ppt_x</p:attrName>
                                    <p:attrName>ppt_y</p:attrName>
                                  </p:attrNameLst>
                                </p:cBhvr>
                              </p:animMotion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#121   MOTION PATH   (slide 126)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4472C4"/>
                </a:solidFill>
              </a:rPr>
              <a:t>Football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0:path · mpath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Football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0" presetClass="path" nodeType="clickEffect">
                            <p:stCondLst>
                              <p:cond delay="0"/>
                            </p:stCondLst>
                            <p:childTnLst>
                              <p:animMotion origin="layout" path="M 0 0 C -0.06 0.12 0.06 0.14 0.02 0.04 C 0.12 0.1 0.16 -0.1 0 -0.04 E" pathEditMode="relative" ptsTypes="">
                                <p:cBhvr>
                                  <p:cTn id="6" dur="800" fill="hold"/>
                                  <p:tgtEl>
                                    <p:spTgt spid="5"/>
                                  </p:tgtEl>
                                  <p:attrNameLst>
                                    <p:attrName>ppt_x</p:attrName>
                                    <p:attrName>ppt_y</p:attrName>
                                  </p:attrNameLst>
                                </p:cBhvr>
                              </p:animMotion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#122   MOTION PATH   (slide 127)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4472C4"/>
                </a:solidFill>
              </a:rPr>
              <a:t>Heart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0:path · mpath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Heart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0" presetClass="path" nodeType="clickEffect">
                            <p:stCondLst>
                              <p:cond delay="0"/>
                            </p:stCondLst>
                            <p:childTnLst>
                              <p:animMotion origin="layout" path="M 0 0 C 0 0.05 -0.05 0.08 -0.08 0.08 C 0 -0.02 0 -0.05 0 -0.06 C 0 -0.05 0 -0.02 0.04 0.02 C 0.08 0.0 0.1 0.02 0.08 0.06 C 0.05 0.08 0.03 0.09 0 0.0 E" pathEditMode="relative" ptsTypes="">
                                <p:cBhvr>
                                  <p:cTn id="6" dur="800" fill="hold"/>
                                  <p:tgtEl>
                                    <p:spTgt spid="5"/>
                                  </p:tgtEl>
                                  <p:attrNameLst>
                                    <p:attrName>ppt_x</p:attrName>
                                    <p:attrName>ppt_y</p:attrName>
                                  </p:attrNameLst>
                                </p:cBhvr>
                              </p:animMotion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640080"/>
            <a:ext cx="114300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4472C4"/>
                </a:solidFill>
              </a:rPr>
              <a:t>Motion Paths · Lines &amp; Curves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1645920"/>
            <a:ext cx="11430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A6A6A6"/>
                </a:solidFill>
              </a:rPr>
              <a:t>30 effects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23774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01  Arc 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8346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02  Arc Left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32918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03  S Curve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3749039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04  Spiral Left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42062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05  Arc Right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46634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06  Arc 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51206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07  S Curve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55778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08  Spring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60350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09  Bounce Left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64922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10  Bounce Right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59" y="23774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11  Sine Wave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59" y="28346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12  Turn Down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59" y="32918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13  Curvy Left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59" y="3749039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14  Curvy Right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59" y="42062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15  Spiral Right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59" y="46634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16  Turn 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59" y="51206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17  Decaying Wave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59" y="55778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18  Diagonal Down Right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59" y="60350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19  Stairs Down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59" y="64922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20  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79" y="23774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21  Diagonal Up Right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79" y="28346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22  Down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79" y="32918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23  Turn Down Right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79" y="3749039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24  Zigzag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79" y="42062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25  Funnel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79" y="46634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26  Heartbeat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3879" y="51206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27  Turn Up Right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79" y="55778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28  Left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3879" y="60350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29  Right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79" y="64922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30  Wave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#123   MOTION PATH   (slide 129)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4472C4"/>
                </a:solidFill>
              </a:rPr>
              <a:t>Arc 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0:path · mpath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Arc Down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0" presetClass="path" nodeType="clickEffect">
                            <p:stCondLst>
                              <p:cond delay="0"/>
                            </p:stCondLst>
                            <p:childTnLst>
                              <p:animMotion origin="layout" path="M 0 0 C 0.140 0.1 0.280 0.02 0.28 0.12 E" pathEditMode="relative" ptsTypes="">
                                <p:cBhvr>
                                  <p:cTn id="6" dur="800" fill="hold"/>
                                  <p:tgtEl>
                                    <p:spTgt spid="5"/>
                                  </p:tgtEl>
                                  <p:attrNameLst>
                                    <p:attrName>ppt_x</p:attrName>
                                    <p:attrName>ppt_y</p:attrName>
                                  </p:attrNameLst>
                                </p:cBhvr>
                              </p:animMotion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#124   MOTION PATH   (slide 130)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4472C4"/>
                </a:solidFill>
              </a:rPr>
              <a:t>Arc Left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0:path · mpath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Arc Left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0" presetClass="path" nodeType="clickEffect">
                            <p:stCondLst>
                              <p:cond delay="0"/>
                            </p:stCondLst>
                            <p:childTnLst>
                              <p:animMotion origin="layout" path="M 0 0 C 0.060 0.1 0.120 -0.38 0.12 -0.28 E" pathEditMode="relative" ptsTypes="">
                                <p:cBhvr>
                                  <p:cTn id="6" dur="800" fill="hold"/>
                                  <p:tgtEl>
                                    <p:spTgt spid="5"/>
                                  </p:tgtEl>
                                  <p:attrNameLst>
                                    <p:attrName>ppt_x</p:attrName>
                                    <p:attrName>ppt_y</p:attrName>
                                  </p:attrNameLst>
                                </p:cBhvr>
                              </p:animMotion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#125   MOTION PATH   (slide 131)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4472C4"/>
                </a:solidFill>
              </a:rPr>
              <a:t>S Curve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0:path · mpath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 Curve 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0" presetClass="path" nodeType="clickEffect">
                            <p:stCondLst>
                              <p:cond delay="0"/>
                            </p:stCondLst>
                            <p:childTnLst>
                              <p:animMotion origin="layout" path="M 0 0 C 0.099 -0.050 0.198 0.050 0.300 0 E" pathEditMode="relative" ptsTypes="">
                                <p:cBhvr>
                                  <p:cTn id="6" dur="800" fill="hold"/>
                                  <p:tgtEl>
                                    <p:spTgt spid="5"/>
                                  </p:tgtEl>
                                  <p:attrNameLst>
                                    <p:attrName>ppt_x</p:attrName>
                                    <p:attrName>ppt_y</p:attrName>
                                  </p:attrNameLst>
                                </p:cBhvr>
                              </p:animMotion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#126   MOTION PATH   (slide 132)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4472C4"/>
                </a:solidFill>
              </a:rPr>
              <a:t>Spiral Left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0:path · mpath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Spiral Left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0" presetClass="path" nodeType="clickEffect">
                            <p:stCondLst>
                              <p:cond delay="0"/>
                            </p:stCondLst>
                            <p:childTnLst>
                              <p:animMotion origin="layout" path="M 0 0 C -0.03 0.03 -0.05 0.05 -0.08 0.04 C -0.09 0.01 -0.06 -0.03 -0.02 -0.03 C 0.03 -0.02 0.02 0.05 -0.04 0.06 E" pathEditMode="relative" ptsTypes="">
                                <p:cBhvr>
                                  <p:cTn id="6" dur="800" fill="hold"/>
                                  <p:tgtEl>
                                    <p:spTgt spid="5"/>
                                  </p:tgtEl>
                                  <p:attrNameLst>
                                    <p:attrName>ppt_x</p:attrName>
                                    <p:attrName>ppt_y</p:attrName>
                                  </p:attrNameLst>
                                </p:cBhvr>
                              </p:animMotion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#127   MOTION PATH   (slide 133)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4472C4"/>
                </a:solidFill>
              </a:rPr>
              <a:t>Arc Right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0:path · mpath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Arc Right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0" presetClass="path" nodeType="clickEffect">
                            <p:stCondLst>
                              <p:cond delay="0"/>
                            </p:stCondLst>
                            <p:childTnLst>
                              <p:animMotion origin="layout" path="M 0 0 C 0.060 0.1 0.120 0.18 0.12 0.28 E" pathEditMode="relative" ptsTypes="">
                                <p:cBhvr>
                                  <p:cTn id="6" dur="800" fill="hold"/>
                                  <p:tgtEl>
                                    <p:spTgt spid="5"/>
                                  </p:tgtEl>
                                  <p:attrNameLst>
                                    <p:attrName>ppt_x</p:attrName>
                                    <p:attrName>ppt_y</p:attrName>
                                  </p:attrNameLst>
                                </p:cBhvr>
                              </p:animMotion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#128   MOTION PATH   (slide 134)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4472C4"/>
                </a:solidFill>
              </a:rPr>
              <a:t>Arc 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0:path · mpath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Arc Up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0" presetClass="path" nodeType="clickEffect">
                            <p:stCondLst>
                              <p:cond delay="0"/>
                            </p:stCondLst>
                            <p:childTnLst>
                              <p:animMotion origin="layout" path="M 0 0 C 0.140 0.1 0.280 -0.22 0.28 -0.12 E" pathEditMode="relative" ptsTypes="">
                                <p:cBhvr>
                                  <p:cTn id="6" dur="800" fill="hold"/>
                                  <p:tgtEl>
                                    <p:spTgt spid="5"/>
                                  </p:tgtEl>
                                  <p:attrNameLst>
                                    <p:attrName>ppt_x</p:attrName>
                                    <p:attrName>ppt_y</p:attrName>
                                  </p:attrNameLst>
                                </p:cBhvr>
                              </p:animMotion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#129   MOTION PATH   (slide 135)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4472C4"/>
                </a:solidFill>
              </a:rPr>
              <a:t>S Curve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0:path · mpath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 Curve 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0" presetClass="path" nodeType="clickEffect">
                            <p:stCondLst>
                              <p:cond delay="0"/>
                            </p:stCondLst>
                            <p:childTnLst>
                              <p:animMotion origin="layout" path="M 0 0 C 0.099 --0.050 0.198 -0.050 0.300 0 E" pathEditMode="relative" ptsTypes="">
                                <p:cBhvr>
                                  <p:cTn id="6" dur="800" fill="hold"/>
                                  <p:tgtEl>
                                    <p:spTgt spid="5"/>
                                  </p:tgtEl>
                                  <p:attrNameLst>
                                    <p:attrName>ppt_x</p:attrName>
                                    <p:attrName>ppt_y</p:attrName>
                                  </p:attrNameLst>
                                </p:cBhvr>
                              </p:animMotion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#130   MOTION PATH   (slide 136)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4472C4"/>
                </a:solidFill>
              </a:rPr>
              <a:t>Spring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0:path · mpath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Spring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0" presetClass="path" nodeType="clickEffect">
                            <p:stCondLst>
                              <p:cond delay="0"/>
                            </p:stCondLst>
                            <p:childTnLst>
                              <p:animMotion origin="layout" path="M 0 0 L 0.05 0.05 0.1 -0.05 0.15 0.05 0.2 -0.05 0.25 0.05 0.3 -0.05 E" pathEditMode="relative" ptsTypes="">
                                <p:cBhvr>
                                  <p:cTn id="6" dur="800" fill="hold"/>
                                  <p:tgtEl>
                                    <p:spTgt spid="5"/>
                                  </p:tgtEl>
                                  <p:attrNameLst>
                                    <p:attrName>ppt_x</p:attrName>
                                    <p:attrName>ppt_y</p:attrName>
                                  </p:attrNameLst>
                                </p:cBhvr>
                              </p:animMotion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#131   MOTION PATH   (slide 137)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4472C4"/>
                </a:solidFill>
              </a:rPr>
              <a:t>Bounce Left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0:path · mpath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Bounce Left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0" presetClass="path" nodeType="clickEffect">
                            <p:stCondLst>
                              <p:cond delay="0"/>
                            </p:stCondLst>
                            <p:childTnLst>
                              <p:animMotion origin="layout" path="M 0 0 L 0 -0.06 L -0.05 0.02 L -0.1 -0.04 L -0.15 0 E" pathEditMode="relative" ptsTypes="">
                                <p:cBhvr>
                                  <p:cTn id="6" dur="800" fill="hold"/>
                                  <p:tgtEl>
                                    <p:spTgt spid="5"/>
                                  </p:tgtEl>
                                  <p:attrNameLst>
                                    <p:attrName>ppt_x</p:attrName>
                                    <p:attrName>ppt_y</p:attrName>
                                  </p:attrNameLst>
                                </p:cBhvr>
                              </p:animMotion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#132   MOTION PATH   (slide 138)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4472C4"/>
                </a:solidFill>
              </a:rPr>
              <a:t>Bounce Right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0:path · mpath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Bounce Right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0" presetClass="path" nodeType="clickEffect">
                            <p:stCondLst>
                              <p:cond delay="0"/>
                            </p:stCondLst>
                            <p:childTnLst>
                              <p:animMotion origin="layout" path="M 0 0 L 0 -0.06 L 0.05 0.02 L 0.1 -0.04 L 0.15 0 E" pathEditMode="relative" ptsTypes="">
                                <p:cBhvr>
                                  <p:cTn id="6" dur="800" fill="hold"/>
                                  <p:tgtEl>
                                    <p:spTgt spid="5"/>
                                  </p:tgtEl>
                                  <p:attrNameLst>
                                    <p:attrName>ppt_x</p:attrName>
                                    <p:attrName>ppt_y</p:attrName>
                                  </p:attrNameLst>
                                </p:cBhvr>
                              </p:animMotion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#133   MOTION PATH   (slide 139)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4472C4"/>
                </a:solidFill>
              </a:rPr>
              <a:t>Sine Wave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0:path · mpath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Sine Wave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0" presetClass="path" nodeType="clickEffect">
                            <p:stCondLst>
                              <p:cond delay="0"/>
                            </p:stCondLst>
                            <p:childTnLst>
                              <p:animMotion origin="layout" path="M 0 0 L 0.05 0.06 0.1 -0.06 0.15 0.06 0.2 -0.06 0.25 0.06 0.3 -0.06 E" pathEditMode="relative" ptsTypes="">
                                <p:cBhvr>
                                  <p:cTn id="6" dur="800" fill="hold"/>
                                  <p:tgtEl>
                                    <p:spTgt spid="5"/>
                                  </p:tgtEl>
                                  <p:attrNameLst>
                                    <p:attrName>ppt_x</p:attrName>
                                    <p:attrName>ppt_y</p:attrName>
                                  </p:attrNameLst>
                                </p:cBhvr>
                              </p:animMotion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#134   MOTION PATH   (slide 140)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4472C4"/>
                </a:solidFill>
              </a:rPr>
              <a:t>Turn 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0:path · mpath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Turn Down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0" presetClass="path" nodeType="clickEffect">
                            <p:stCondLst>
                              <p:cond delay="0"/>
                            </p:stCondLst>
                            <p:childTnLst>
                              <p:animMotion origin="layout" path="M 0 0 L 0.05 0 L 0.05 0.15 L 0.1 0.15 E" pathEditMode="relative" ptsTypes="">
                                <p:cBhvr>
                                  <p:cTn id="6" dur="800" fill="hold"/>
                                  <p:tgtEl>
                                    <p:spTgt spid="5"/>
                                  </p:tgtEl>
                                  <p:attrNameLst>
                                    <p:attrName>ppt_x</p:attrName>
                                    <p:attrName>ppt_y</p:attrName>
                                  </p:attrNameLst>
                                </p:cBhvr>
                              </p:animMotion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#135   MOTION PATH   (slide 141)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4472C4"/>
                </a:solidFill>
              </a:rPr>
              <a:t>Curvy Left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0:path · mpath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Curvy Left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0" presetClass="path" nodeType="clickEffect">
                            <p:stCondLst>
                              <p:cond delay="0"/>
                            </p:stCondLst>
                            <p:childTnLst>
                              <p:animMotion origin="layout" path="M 0 0 L -0.28 0 E" pathEditMode="relative" ptsTypes="">
                                <p:cBhvr>
                                  <p:cTn id="6" dur="800" fill="hold"/>
                                  <p:tgtEl>
                                    <p:spTgt spid="5"/>
                                  </p:tgtEl>
                                  <p:attrNameLst>
                                    <p:attrName>ppt_x</p:attrName>
                                    <p:attrName>ppt_y</p:attrName>
                                  </p:attrNameLst>
                                </p:cBhvr>
                              </p:animMotion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#136   MOTION PATH   (slide 142)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4472C4"/>
                </a:solidFill>
              </a:rPr>
              <a:t>Curvy Right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0:path · mpath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Curvy Right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0" presetClass="path" nodeType="clickEffect">
                            <p:stCondLst>
                              <p:cond delay="0"/>
                            </p:stCondLst>
                            <p:childTnLst>
                              <p:animMotion origin="layout" path="M 0 0 L 0.28 0 E" pathEditMode="relative" ptsTypes="">
                                <p:cBhvr>
                                  <p:cTn id="6" dur="800" fill="hold"/>
                                  <p:tgtEl>
                                    <p:spTgt spid="5"/>
                                  </p:tgtEl>
                                  <p:attrNameLst>
                                    <p:attrName>ppt_x</p:attrName>
                                    <p:attrName>ppt_y</p:attrName>
                                  </p:attrNameLst>
                                </p:cBhvr>
                              </p:animMotion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#137   MOTION PATH   (slide 143)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4472C4"/>
                </a:solidFill>
              </a:rPr>
              <a:t>Spiral Right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0:path · mpath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Spiral Right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0" presetClass="path" nodeType="clickEffect">
                            <p:stCondLst>
                              <p:cond delay="0"/>
                            </p:stCondLst>
                            <p:childTnLst>
                              <p:animMotion origin="layout" path="M 0 0 C 0.03 0.03 0.05 0.05 0.08 0.04 C 0.09 0.01 0.06 -0.03 0.02 -0.03 C -0.03 -0.02 -0.02 0.05 0.04 0.06 E" pathEditMode="relative" ptsTypes="">
                                <p:cBhvr>
                                  <p:cTn id="6" dur="800" fill="hold"/>
                                  <p:tgtEl>
                                    <p:spTgt spid="5"/>
                                  </p:tgtEl>
                                  <p:attrNameLst>
                                    <p:attrName>ppt_x</p:attrName>
                                    <p:attrName>ppt_y</p:attrName>
                                  </p:attrNameLst>
                                </p:cBhvr>
                              </p:animMotion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#138   MOTION PATH   (slide 144)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4472C4"/>
                </a:solidFill>
              </a:rPr>
              <a:t>Turn 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0:path · mpath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Turn Up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0" presetClass="path" nodeType="clickEffect">
                            <p:stCondLst>
                              <p:cond delay="0"/>
                            </p:stCondLst>
                            <p:childTnLst>
                              <p:animMotion origin="layout" path="M 0 0 L 0.05 0 L 0.05 -0.15 L 0.1 -0.15 E" pathEditMode="relative" ptsTypes="">
                                <p:cBhvr>
                                  <p:cTn id="6" dur="800" fill="hold"/>
                                  <p:tgtEl>
                                    <p:spTgt spid="5"/>
                                  </p:tgtEl>
                                  <p:attrNameLst>
                                    <p:attrName>ppt_x</p:attrName>
                                    <p:attrName>ppt_y</p:attrName>
                                  </p:attrNameLst>
                                </p:cBhvr>
                              </p:animMotion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#139   MOTION PATH   (slide 145)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4472C4"/>
                </a:solidFill>
              </a:rPr>
              <a:t>Decaying Wave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0:path · mpath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Decaying Wave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0" presetClass="path" nodeType="clickEffect">
                            <p:stCondLst>
                              <p:cond delay="0"/>
                            </p:stCondLst>
                            <p:childTnLst>
                              <p:animMotion origin="layout" path="M 0 0 C 0.05 0.08 0.1 0.02 0.15 0.06 C 0.2 0.09 0.25 0.03 0.3 0.05 E" pathEditMode="relative" ptsTypes="">
                                <p:cBhvr>
                                  <p:cTn id="6" dur="800" fill="hold"/>
                                  <p:tgtEl>
                                    <p:spTgt spid="5"/>
                                  </p:tgtEl>
                                  <p:attrNameLst>
                                    <p:attrName>ppt_x</p:attrName>
                                    <p:attrName>ppt_y</p:attrName>
                                  </p:attrNameLst>
                                </p:cBhvr>
                              </p:animMotion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#140   MOTION PATH   (slide 146)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4472C4"/>
                </a:solidFill>
              </a:rPr>
              <a:t>Diagonal Down Right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0:path · mpath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Diagonal Down Right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0" presetClass="path" nodeType="clickEffect">
                            <p:stCondLst>
                              <p:cond delay="0"/>
                            </p:stCondLst>
                            <p:childTnLst>
                              <p:animMotion origin="layout" path="M 0 0 L 0.2 0.2 E" pathEditMode="relative" ptsTypes="">
                                <p:cBhvr>
                                  <p:cTn id="6" dur="800" fill="hold"/>
                                  <p:tgtEl>
                                    <p:spTgt spid="5"/>
                                  </p:tgtEl>
                                  <p:attrNameLst>
                                    <p:attrName>ppt_x</p:attrName>
                                    <p:attrName>ppt_y</p:attrName>
                                  </p:attrNameLst>
                                </p:cBhvr>
                              </p:animMotion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#141   MOTION PATH   (slide 147)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4472C4"/>
                </a:solidFill>
              </a:rPr>
              <a:t>Stairs 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0:path · mpath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Stairs Down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0" presetClass="path" nodeType="clickEffect">
                            <p:stCondLst>
                              <p:cond delay="0"/>
                            </p:stCondLst>
                            <p:childTnLst>
                              <p:animMotion origin="layout" path="M 0 0 L 0.03 -0.06 L 0.09 -0.06 L 0.12 -0.12 L 0.18 -0.12 L 0.21 -0.18 E" pathEditMode="relative" ptsTypes="">
                                <p:cBhvr>
                                  <p:cTn id="6" dur="800" fill="hold"/>
                                  <p:tgtEl>
                                    <p:spTgt spid="5"/>
                                  </p:tgtEl>
                                  <p:attrNameLst>
                                    <p:attrName>ppt_x</p:attrName>
                                    <p:attrName>ppt_y</p:attrName>
                                  </p:attrNameLst>
                                </p:cBhvr>
                              </p:animMotion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#142   MOTION PATH   (slide 148)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4472C4"/>
                </a:solidFill>
              </a:rPr>
              <a:t>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0:path · mpath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Up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0" presetClass="path" nodeType="clickEffect">
                            <p:stCondLst>
                              <p:cond delay="0"/>
                            </p:stCondLst>
                            <p:childTnLst>
                              <p:animMotion origin="layout" path="M 0 0 L 0 -0.24 E" pathEditMode="relative" ptsTypes="">
                                <p:cBhvr>
                                  <p:cTn id="6" dur="800" fill="hold"/>
                                  <p:tgtEl>
                                    <p:spTgt spid="5"/>
                                  </p:tgtEl>
                                  <p:attrNameLst>
                                    <p:attrName>ppt_x</p:attrName>
                                    <p:attrName>ppt_y</p:attrName>
                                  </p:attrNameLst>
                                </p:cBhvr>
                              </p:animMotion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#143   MOTION PATH   (slide 149)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4472C4"/>
                </a:solidFill>
              </a:rPr>
              <a:t>Diagonal Up Right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0:path · mpath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Diagonal Up Right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0" presetClass="path" nodeType="clickEffect">
                            <p:stCondLst>
                              <p:cond delay="0"/>
                            </p:stCondLst>
                            <p:childTnLst>
                              <p:animMotion origin="layout" path="M 0 0 L 0.2 -0.2 E" pathEditMode="relative" ptsTypes="">
                                <p:cBhvr>
                                  <p:cTn id="6" dur="800" fill="hold"/>
                                  <p:tgtEl>
                                    <p:spTgt spid="5"/>
                                  </p:tgtEl>
                                  <p:attrNameLst>
                                    <p:attrName>ppt_x</p:attrName>
                                    <p:attrName>ppt_y</p:attrName>
                                  </p:attrNameLst>
                                </p:cBhvr>
                              </p:animMotion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#144   MOTION PATH   (slide 150)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4472C4"/>
                </a:solidFill>
              </a:rPr>
              <a:t>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0:path · mpath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Down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0" presetClass="path" nodeType="clickEffect">
                            <p:stCondLst>
                              <p:cond delay="0"/>
                            </p:stCondLst>
                            <p:childTnLst>
                              <p:animMotion origin="layout" path="M 0 0 L 0 0.24 E" pathEditMode="relative" ptsTypes="">
                                <p:cBhvr>
                                  <p:cTn id="6" dur="800" fill="hold"/>
                                  <p:tgtEl>
                                    <p:spTgt spid="5"/>
                                  </p:tgtEl>
                                  <p:attrNameLst>
                                    <p:attrName>ppt_x</p:attrName>
                                    <p:attrName>ppt_y</p:attrName>
                                  </p:attrNameLst>
                                </p:cBhvr>
                              </p:animMotion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#145   MOTION PATH   (slide 151)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4472C4"/>
                </a:solidFill>
              </a:rPr>
              <a:t>Turn Down Right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0:path · mpath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Turn Down Right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0" presetClass="path" nodeType="clickEffect">
                            <p:stCondLst>
                              <p:cond delay="0"/>
                            </p:stCondLst>
                            <p:childTnLst>
                              <p:animMotion origin="layout" path="M 0 0 C 0.075 0.08 0.150 0.07 0.15 0.15 E" pathEditMode="relative" ptsTypes="">
                                <p:cBhvr>
                                  <p:cTn id="6" dur="800" fill="hold"/>
                                  <p:tgtEl>
                                    <p:spTgt spid="5"/>
                                  </p:tgtEl>
                                  <p:attrNameLst>
                                    <p:attrName>ppt_x</p:attrName>
                                    <p:attrName>ppt_y</p:attrName>
                                  </p:attrNameLst>
                                </p:cBhvr>
                              </p:animMotion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#146   MOTION PATH   (slide 152)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4472C4"/>
                </a:solidFill>
              </a:rPr>
              <a:t>Zigzag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0:path · mpath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Zigzag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0" presetClass="path" nodeType="clickEffect">
                            <p:stCondLst>
                              <p:cond delay="0"/>
                            </p:stCondLst>
                            <p:childTnLst>
                              <p:animMotion origin="layout" path="M 0 0 L 0.035 0.14 0.07 -0.14 0.105 0.14 0.14 -0.14 0.175 0.14 0.21 -0.14 0.245 0.14 0.28 -0.14 E" pathEditMode="relative" ptsTypes="">
                                <p:cBhvr>
                                  <p:cTn id="6" dur="800" fill="hold"/>
                                  <p:tgtEl>
                                    <p:spTgt spid="5"/>
                                  </p:tgtEl>
                                  <p:attrNameLst>
                                    <p:attrName>ppt_x</p:attrName>
                                    <p:attrName>ppt_y</p:attrName>
                                  </p:attrNameLst>
                                </p:cBhvr>
                              </p:animMotion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#147   MOTION PATH   (slide 153)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4472C4"/>
                </a:solidFill>
              </a:rPr>
              <a:t>Funnel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0:path · mpath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Funnel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0" presetClass="path" nodeType="clickEffect">
                            <p:stCondLst>
                              <p:cond delay="0"/>
                            </p:stCondLst>
                            <p:childTnLst>
                              <p:animMotion origin="layout" path="M 0 0 L 0.12 0 L -0.1 0.16 L -0.02 0.16 L -0.12 0.32 L 0.02 0.32 E" pathEditMode="relative" ptsTypes="">
                                <p:cBhvr>
                                  <p:cTn id="6" dur="800" fill="hold"/>
                                  <p:tgtEl>
                                    <p:spTgt spid="5"/>
                                  </p:tgtEl>
                                  <p:attrNameLst>
                                    <p:attrName>ppt_x</p:attrName>
                                    <p:attrName>ppt_y</p:attrName>
                                  </p:attrNameLst>
                                </p:cBhvr>
                              </p:animMotion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#148   MOTION PATH   (slide 154)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4472C4"/>
                </a:solidFill>
              </a:rPr>
              <a:t>Heartbeat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0:path · mpath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Heartbeat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0" presetClass="path" nodeType="clickEffect">
                            <p:stCondLst>
                              <p:cond delay="0"/>
                            </p:stCondLst>
                            <p:childTnLst>
                              <p:animMotion origin="layout" path="M 0 0 L 0.03 0 L 0.04 0.04 L 0.06 -0.02 L 0.07 0.02 L 0.12 0 E" pathEditMode="relative" ptsTypes="">
                                <p:cBhvr>
                                  <p:cTn id="6" dur="800" fill="hold"/>
                                  <p:tgtEl>
                                    <p:spTgt spid="5"/>
                                  </p:tgtEl>
                                  <p:attrNameLst>
                                    <p:attrName>ppt_x</p:attrName>
                                    <p:attrName>ppt_y</p:attrName>
                                  </p:attrNameLst>
                                </p:cBhvr>
                              </p:animMotion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#149   MOTION PATH   (slide 155)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4472C4"/>
                </a:solidFill>
              </a:rPr>
              <a:t>Turn Up Right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0:path · mpath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Turn Up Right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0" presetClass="path" nodeType="clickEffect">
                            <p:stCondLst>
                              <p:cond delay="0"/>
                            </p:stCondLst>
                            <p:childTnLst>
                              <p:animMotion origin="layout" path="M 0 0 C 0.075 0.08 0.150 -0.23 0.15 -0.15 E" pathEditMode="relative" ptsTypes="">
                                <p:cBhvr>
                                  <p:cTn id="6" dur="800" fill="hold"/>
                                  <p:tgtEl>
                                    <p:spTgt spid="5"/>
                                  </p:tgtEl>
                                  <p:attrNameLst>
                                    <p:attrName>ppt_x</p:attrName>
                                    <p:attrName>ppt_y</p:attrName>
                                  </p:attrNameLst>
                                </p:cBhvr>
                              </p:animMotion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#150   MOTION PATH   (slide 156)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4472C4"/>
                </a:solidFill>
              </a:rPr>
              <a:t>Left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0:path · mpath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Left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0" presetClass="path" nodeType="clickEffect">
                            <p:stCondLst>
                              <p:cond delay="0"/>
                            </p:stCondLst>
                            <p:childTnLst>
                              <p:animMotion origin="layout" path="M 0 0 L -0.24 0 E" pathEditMode="relative" ptsTypes="">
                                <p:cBhvr>
                                  <p:cTn id="6" dur="800" fill="hold"/>
                                  <p:tgtEl>
                                    <p:spTgt spid="5"/>
                                  </p:tgtEl>
                                  <p:attrNameLst>
                                    <p:attrName>ppt_x</p:attrName>
                                    <p:attrName>ppt_y</p:attrName>
                                  </p:attrNameLst>
                                </p:cBhvr>
                              </p:animMotion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#151   MOTION PATH   (slide 157)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4472C4"/>
                </a:solidFill>
              </a:rPr>
              <a:t>Right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0:path · mpath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Right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0" presetClass="path" nodeType="clickEffect">
                            <p:stCondLst>
                              <p:cond delay="0"/>
                            </p:stCondLst>
                            <p:childTnLst>
                              <p:animMotion origin="layout" path="M 0 0 L 0.24 0 E" pathEditMode="relative" ptsTypes="">
                                <p:cBhvr>
                                  <p:cTn id="6" dur="800" fill="hold"/>
                                  <p:tgtEl>
                                    <p:spTgt spid="5"/>
                                  </p:tgtEl>
                                  <p:attrNameLst>
                                    <p:attrName>ppt_x</p:attrName>
                                    <p:attrName>ppt_y</p:attrName>
                                  </p:attrNameLst>
                                </p:cBhvr>
                              </p:animMotion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#152   MOTION PATH   (slide 158)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4472C4"/>
                </a:solidFill>
              </a:rPr>
              <a:t>Wave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0:path · mpath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Wave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0" presetClass="path" nodeType="clickEffect">
                            <p:stCondLst>
                              <p:cond delay="0"/>
                            </p:stCondLst>
                            <p:childTnLst>
                              <p:animMotion origin="layout" path="M 0 0 L 0.075 0.06 0.15 -0.06 0.225 0.06 0.3 -0.06 E" pathEditMode="relative" ptsTypes="">
                                <p:cBhvr>
                                  <p:cTn id="6" dur="800" fill="hold"/>
                                  <p:tgtEl>
                                    <p:spTgt spid="5"/>
                                  </p:tgtEl>
                                  <p:attrNameLst>
                                    <p:attrName>ppt_x</p:attrName>
                                    <p:attrName>ppt_y</p:attrName>
                                  </p:attrNameLst>
                                </p:cBhvr>
                              </p:animMotion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640080"/>
            <a:ext cx="114300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4472C4"/>
                </a:solidFill>
              </a:rPr>
              <a:t>Motion Paths · Special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1645920"/>
            <a:ext cx="11430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A6A6A6"/>
                </a:solidFill>
              </a:rPr>
              <a:t>15 effects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23774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01  Bean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8346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02  Curved 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32918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03  Neutron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3749039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04  Peanut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42062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05  Curved Square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59" y="23774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06  Figure 8 Four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59" y="28346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07  Plus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59" y="32918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08  Pointy Star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59" y="3749039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09  Curvy Star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59" y="42062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10  Inverted Square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23774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11  Swoosh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28346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12  Vertical Figure 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32918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13  Horizontal Figure 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3749039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14  Inverted Triangle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42062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6A6"/>
                </a:solidFill>
              </a:rPr>
              <a:t>15  Loop de Loop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#153   MOTION PATH   (slide 160)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4472C4"/>
                </a:solidFill>
              </a:rPr>
              <a:t>Bean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0:path · mpath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Bean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0" presetClass="path" nodeType="clickEffect">
                            <p:stCondLst>
                              <p:cond delay="0"/>
                            </p:stCondLst>
                            <p:childTnLst>
                              <p:animMotion origin="layout" path="M 0 0 C 0.14 0.04 0.2 0.16 0.12 0.18 C 0.02 0.2 -0.1 0.12 -0.14 0.02 C -0.16 -0.04 -0.06 -0.02 0 0 E" pathEditMode="relative" ptsTypes="">
                                <p:cBhvr>
                                  <p:cTn id="6" dur="800" fill="hold"/>
                                  <p:tgtEl>
                                    <p:spTgt spid="5"/>
                                  </p:tgtEl>
                                  <p:attrNameLst>
                                    <p:attrName>ppt_x</p:attrName>
                                    <p:attrName>ppt_y</p:attrName>
                                  </p:attrNameLst>
                                </p:cBhvr>
                              </p:animMotion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#154   MOTION PATH   (slide 161)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4472C4"/>
                </a:solidFill>
              </a:rPr>
              <a:t>Curved 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0:path · mpath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Curved 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0" presetClass="path" nodeType="clickEffect">
                            <p:stCondLst>
                              <p:cond delay="0"/>
                            </p:stCondLst>
                            <p:childTnLst>
                              <p:animMotion origin="layout" path="M 0 0 C 0.05 0.05 0.06 0.08 0 0.14 C -0.06 0.08 -0.05 0.05 0 0 E" pathEditMode="relative" ptsTypes="">
                                <p:cBhvr>
                                  <p:cTn id="6" dur="800" fill="hold"/>
                                  <p:tgtEl>
                                    <p:spTgt spid="5"/>
                                  </p:tgtEl>
                                  <p:attrNameLst>
                                    <p:attrName>ppt_x</p:attrName>
                                    <p:attrName>ppt_y</p:attrName>
                                  </p:attrNameLst>
                                </p:cBhvr>
                              </p:animMotion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#155   MOTION PATH   (slide 162)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4472C4"/>
                </a:solidFill>
              </a:rPr>
              <a:t>Neutron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0:path · mpath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Neutron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0" presetClass="path" nodeType="clickEffect">
                            <p:stCondLst>
                              <p:cond delay="0"/>
                            </p:stCondLst>
                            <p:childTnLst>
                              <p:animMotion origin="layout" path="M 0 0 C 0.088 -0.160 0.160 -0.088 0.160 0 C 0.160 0.088 0.088 0.160 0 0.160 C -0.088 0.160 -0.160 0.088 -0.160 0 C -0.160 -0.088 -0.088 -0.160 0 -0.160 E" pathEditMode="relative" ptsTypes="">
                                <p:cBhvr>
                                  <p:cTn id="6" dur="800" fill="hold"/>
                                  <p:tgtEl>
                                    <p:spTgt spid="5"/>
                                  </p:tgtEl>
                                  <p:attrNameLst>
                                    <p:attrName>ppt_x</p:attrName>
                                    <p:attrName>ppt_y</p:attrName>
                                  </p:attrNameLst>
                                </p:cBhvr>
                              </p:animMotion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#156   MOTION PATH   (slide 163)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4472C4"/>
                </a:solidFill>
              </a:rPr>
              <a:t>Peanut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0:path · mpath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Peanut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0" presetClass="path" nodeType="clickEffect">
                            <p:stCondLst>
                              <p:cond delay="0"/>
                            </p:stCondLst>
                            <p:childTnLst>
                              <p:animMotion origin="layout" path="M 0 0 C -0.04 0.08 -0.12 0.08 -0.14 0.02 C -0.16 0.08 -0.08 0.14 0 0.12 C 0.08 0.14 0.16 0.08 0.14 0.02 C 0.12 0.08 0.04 0.08 0 0 E" pathEditMode="relative" ptsTypes="">
                                <p:cBhvr>
                                  <p:cTn id="6" dur="800" fill="hold"/>
                                  <p:tgtEl>
                                    <p:spTgt spid="5"/>
                                  </p:tgtEl>
                                  <p:attrNameLst>
                                    <p:attrName>ppt_x</p:attrName>
                                    <p:attrName>ppt_y</p:attrName>
                                  </p:attrNameLst>
                                </p:cBhvr>
                              </p:animMotion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#157   MOTION PATH   (slide 164)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4472C4"/>
                </a:solidFill>
              </a:rPr>
              <a:t>Curved Square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0:path · mpath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Curved Square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0" presetClass="path" nodeType="clickEffect">
                            <p:stCondLst>
                              <p:cond delay="0"/>
                            </p:stCondLst>
                            <p:childTnLst>
                              <p:animMotion origin="layout" path="M 0 0 C 0.05 0.02 0.12 0.02 0.16 0.06 C 0.12 0.12 0.02 0.12 -0.02 0.06 E" pathEditMode="relative" ptsTypes="">
                                <p:cBhvr>
                                  <p:cTn id="6" dur="800" fill="hold"/>
                                  <p:tgtEl>
                                    <p:spTgt spid="5"/>
                                  </p:tgtEl>
                                  <p:attrNameLst>
                                    <p:attrName>ppt_x</p:attrName>
                                    <p:attrName>ppt_y</p:attrName>
                                  </p:attrNameLst>
                                </p:cBhvr>
                              </p:animMotion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#158   MOTION PATH   (slide 165)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4472C4"/>
                </a:solidFill>
              </a:rPr>
              <a:t>Figure 8 Four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0:path · mpath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Figure 8 Four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0" presetClass="path" nodeType="clickEffect">
                            <p:stCondLst>
                              <p:cond delay="0"/>
                            </p:stCondLst>
                            <p:childTnLst>
                              <p:animMotion origin="layout" path="M 0 0 C 0.08 0.1 0.16 0.1 0.16 0.0 C 0.16 -0.1 0.08 -0.1 0 -0.02 C 0.08 0.02 0.12 0.04 0.1 0.1 E" pathEditMode="relative" ptsTypes="">
                                <p:cBhvr>
                                  <p:cTn id="6" dur="800" fill="hold"/>
                                  <p:tgtEl>
                                    <p:spTgt spid="5"/>
                                  </p:tgtEl>
                                  <p:attrNameLst>
                                    <p:attrName>ppt_x</p:attrName>
                                    <p:attrName>ppt_y</p:attrName>
                                  </p:attrNameLst>
                                </p:cBhvr>
                              </p:animMotion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#159   MOTION PATH   (slide 166)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4472C4"/>
                </a:solidFill>
              </a:rPr>
              <a:t>Plus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0:path · mpath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Plus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0" presetClass="path" nodeType="clickEffect">
                            <p:stCondLst>
                              <p:cond delay="0"/>
                            </p:stCondLst>
                            <p:childTnLst>
                              <p:animMotion origin="layout" path="M 0 0 L 0.04 0.04 L 0.04 0.1 L -0.04 0.1 L -0.04 0.04 L -0.1 0.04 L -0.1 -0.04 L -0.04 -0.04 L -0.04 -0.1 L 0.04 -0.1 L 0.04 -0.04 L 0.1 -0.04 L 0.1 0.04 E" pathEditMode="relative" ptsTypes="">
                                <p:cBhvr>
                                  <p:cTn id="6" dur="800" fill="hold"/>
                                  <p:tgtEl>
                                    <p:spTgt spid="5"/>
                                  </p:tgtEl>
                                  <p:attrNameLst>
                                    <p:attrName>ppt_x</p:attrName>
                                    <p:attrName>ppt_y</p:attrName>
                                  </p:attrNameLst>
                                </p:cBhvr>
                              </p:animMotion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#160   MOTION PATH   (slide 167)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4472C4"/>
                </a:solidFill>
              </a:rPr>
              <a:t>Pointy Star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0:path · mpath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Pointy Star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0" presetClass="path" nodeType="clickEffect">
                            <p:stCondLst>
                              <p:cond delay="0"/>
                            </p:stCondLst>
                            <p:childTnLst>
                              <p:animMotion origin="layout" path="M 0 0 L 0 -0.2 L 0.0353 -0.0485 L 0.1902 -0.0618 L 0.0571 0.0185 L 0.1176 0.1618 L 0 0.06 L -0.1176 0.1618 L -0.0571 0.0185 L -0.1902 -0.0618 L -0.0353 -0.0485 E" pathEditMode="relative" ptsTypes="">
                                <p:cBhvr>
                                  <p:cTn id="6" dur="800" fill="hold"/>
                                  <p:tgtEl>
                                    <p:spTgt spid="5"/>
                                  </p:tgtEl>
                                  <p:attrNameLst>
                                    <p:attrName>ppt_x</p:attrName>
                                    <p:attrName>ppt_y</p:attrName>
                                  </p:attrNameLst>
                                </p:cBhvr>
                              </p:animMotion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#161   MOTION PATH   (slide 168)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4472C4"/>
                </a:solidFill>
              </a:rPr>
              <a:t>Curvy Star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0:path · mpath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Curvy Star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0" presetClass="path" nodeType="clickEffect">
                            <p:stCondLst>
                              <p:cond delay="0"/>
                            </p:stCondLst>
                            <p:childTnLst>
                              <p:animMotion origin="layout" path="M 0 0 L 0 -0.2 L 0.0529 -0.0728 L 0.1902 -0.0618 L 0.0856 0.0278 L 0.1176 0.1618 L 0 0.09 L -0.1176 0.1618 L -0.0856 0.0278 L -0.1902 -0.0618 L -0.0529 -0.0728 E" pathEditMode="relative" ptsTypes="">
                                <p:cBhvr>
                                  <p:cTn id="6" dur="800" fill="hold"/>
                                  <p:tgtEl>
                                    <p:spTgt spid="5"/>
                                  </p:tgtEl>
                                  <p:attrNameLst>
                                    <p:attrName>ppt_x</p:attrName>
                                    <p:attrName>ppt_y</p:attrName>
                                  </p:attrNameLst>
                                </p:cBhvr>
                              </p:animMotion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#162   MOTION PATH   (slide 169)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4472C4"/>
                </a:solidFill>
              </a:rPr>
              <a:t>Inverted Square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0:path · mpath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Inverted Square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0" presetClass="path" nodeType="clickEffect">
                            <p:stCondLst>
                              <p:cond delay="0"/>
                            </p:stCondLst>
                            <p:childTnLst>
                              <p:animMotion origin="layout" path="M 0 0 L 0.2 0.1 L 0 0.2 L -0.2 0.1 E" pathEditMode="relative" ptsTypes="">
                                <p:cBhvr>
                                  <p:cTn id="6" dur="800" fill="hold"/>
                                  <p:tgtEl>
                                    <p:spTgt spid="5"/>
                                  </p:tgtEl>
                                  <p:attrNameLst>
                                    <p:attrName>ppt_x</p:attrName>
                                    <p:attrName>ppt_y</p:attrName>
                                  </p:attrNameLst>
                                </p:cBhvr>
                              </p:animMotion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#163   MOTION PATH   (slide 170)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4472C4"/>
                </a:solidFill>
              </a:rPr>
              <a:t>Swoosh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0:path · mpath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Swoosh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0" presetClass="path" nodeType="clickEffect">
                            <p:stCondLst>
                              <p:cond delay="0"/>
                            </p:stCondLst>
                            <p:childTnLst>
                              <p:animMotion origin="layout" path="M 0 0 C 0.1 0.06 0.16 0.14 0.12 0.2 C 0.08 0.26 0.0 0.22 -0.04 0.16 E" pathEditMode="relative" ptsTypes="">
                                <p:cBhvr>
                                  <p:cTn id="6" dur="800" fill="hold"/>
                                  <p:tgtEl>
                                    <p:spTgt spid="5"/>
                                  </p:tgtEl>
                                  <p:attrNameLst>
                                    <p:attrName>ppt_x</p:attrName>
                                    <p:attrName>ppt_y</p:attrName>
                                  </p:attrNameLst>
                                </p:cBhvr>
                              </p:animMotion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#164   MOTION PATH   (slide 171)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4472C4"/>
                </a:solidFill>
              </a:rPr>
              <a:t>Vertical Figure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0:path · mpath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Vertical Figure 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0" presetClass="path" nodeType="clickEffect">
                            <p:stCondLst>
                              <p:cond delay="0"/>
                            </p:stCondLst>
                            <p:childTnLst>
                              <p:animMotion origin="layout" path="M 0 0 C 0.1 0.06 0.14 0.14 0.08 0.18 C 0.02 0.22 -0.06 0.18 -0.04 0.12 E" pathEditMode="relative" ptsTypes="">
                                <p:cBhvr>
                                  <p:cTn id="6" dur="800" fill="hold"/>
                                  <p:tgtEl>
                                    <p:spTgt spid="5"/>
                                  </p:tgtEl>
                                  <p:attrNameLst>
                                    <p:attrName>ppt_x</p:attrName>
                                    <p:attrName>ppt_y</p:attrName>
                                  </p:attrNameLst>
                                </p:cBhvr>
                              </p:animMotion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#165   MOTION PATH   (slide 172)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4472C4"/>
                </a:solidFill>
              </a:rPr>
              <a:t>Horizontal Figure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0:path · mpath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Horizontal Figure 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0" presetClass="path" nodeType="clickEffect">
                            <p:stCondLst>
                              <p:cond delay="0"/>
                            </p:stCondLst>
                            <p:childTnLst>
                              <p:animMotion origin="layout" path="M 0 0 C 0.06 0.1 0.14 0.1 0.14 0.02 C 0.14 -0.06 0.06 -0.06 -0.02 0.0 C 0.06 0.02 0.1 0.03 0.08 0.08 E" pathEditMode="relative" ptsTypes="">
                                <p:cBhvr>
                                  <p:cTn id="6" dur="800" fill="hold"/>
                                  <p:tgtEl>
                                    <p:spTgt spid="5"/>
                                  </p:tgtEl>
                                  <p:attrNameLst>
                                    <p:attrName>ppt_x</p:attrName>
                                    <p:attrName>ppt_y</p:attrName>
                                  </p:attrNameLst>
                                </p:cBhvr>
                              </p:animMotion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#166   MOTION PATH   (slide 173)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4472C4"/>
                </a:solidFill>
              </a:rPr>
              <a:t>Inverted Triangle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0:path · mpath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Inverted Triangle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0" presetClass="path" nodeType="clickEffect">
                            <p:stCondLst>
                              <p:cond delay="0"/>
                            </p:stCondLst>
                            <p:childTnLst>
                              <p:animMotion origin="layout" path="M 0 0 L -0.1 -0.13 L 0.1 -0.13 E" pathEditMode="relative" ptsTypes="">
                                <p:cBhvr>
                                  <p:cTn id="6" dur="800" fill="hold"/>
                                  <p:tgtEl>
                                    <p:spTgt spid="5"/>
                                  </p:tgtEl>
                                  <p:attrNameLst>
                                    <p:attrName>ppt_x</p:attrName>
                                    <p:attrName>ppt_y</p:attrName>
                                  </p:attrNameLst>
                                </p:cBhvr>
                              </p:animMotion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6A6A6"/>
                </a:solidFill>
              </a:rPr>
              <a:t>#167   MOTION PATH   (slide 174)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4472C4"/>
                </a:solidFill>
              </a:rPr>
              <a:t>Loop de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6A6A6"/>
                </a:solidFill>
              </a:rPr>
              <a:t>preset 0:path · mpath · click object to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0"/>
            <a:ext cx="3749039" cy="155448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Loop de Loop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 presetID="0" presetClass="path" nodeType="clickEffect">
                            <p:stCondLst>
                              <p:cond delay="0"/>
                            </p:stCondLst>
                            <p:childTnLst>
                              <p:animMotion origin="layout" path="M 0 0 C -0.1 -0.02 -0.12 -0.08 -0.08 -0.1 C -0.04 -0.12 0.04 -0.08 0.06 -0.02 C 0.12 0.06 0.14 0.12 0.08 0.14 C 0.02 0.16 -0.06 0.1 -0.1 0.04 E" pathEditMode="relative" ptsTypes="">
                                <p:cBhvr>
                                  <p:cTn id="6" dur="800" fill="hold"/>
                                  <p:tgtEl>
                                    <p:spTgt spid="5"/>
                                  </p:tgtEl>
                                  <p:attrNameLst>
                                    <p:attrName>ppt_x</p:attrName>
                                    <p:attrName>ppt_y</p:attrName>
                                  </p:attrNameLst>
                                </p:cBhvr>
                              </p:animMotion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